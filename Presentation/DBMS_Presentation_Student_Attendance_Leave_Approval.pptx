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40d1826-ac02-54f1-817a-58e2021d1b94}">
          <p14:sldIdLst>
            <p14:sldId id="256"/>
          </p14:sldIdLst>
        </p14:section>
        <p14:section name="Problem" id="{6a5a8735-4369-4670-65b9-88f92224ba18}">
          <p14:sldIdLst>
            <p14:sldId id="257"/>
            <p14:sldId id="258"/>
          </p14:sldIdLst>
        </p14:section>
        <p14:section name="Design" id="{bda730da-8c63-f81b-1780-c5c0e0bd3639}">
          <p14:sldIdLst>
            <p14:sldId id="259"/>
            <p14:sldId id="260"/>
            <p14:sldId id="261"/>
            <p14:sldId id="262"/>
          </p14:sldIdLst>
        </p14:section>
        <p14:section name="Database" id="{9d2e9f37-afff-e1ab-43d8-a3d483851bf0}">
          <p14:sldIdLst>
            <p14:sldId id="263"/>
            <p14:sldId id="264"/>
            <p14:sldId id="265"/>
          </p14:sldIdLst>
        </p14:section>
        <p14:section name="Demo" id="{4d32f01d-da03-9845-48ba-d11009e6bdb6}">
          <p14:sldIdLst>
            <p14:sldId id="266"/>
          </p14:sldIdLst>
        </p14:section>
        <p14:section name="Wrap-up" id="{d2ed5b71-e2ed-aef8-a362-b924e04f00a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232B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14232B"/>
                </a:solidFill>
                <a:latin typeface="+mj-lt"/>
              </a:rPr>
              <a:t>Rahul's DBMS attendance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DBMS attendance (%)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4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9E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approval</c:v>
                  </c:pt>
                  <c:pt idx="1">
                    <c:v>After HOD approval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423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23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each member. Spend about one minute on the problem description, then move to the ER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Problem: colleges track attendance on paper and approve leave informally, which causes errors, delays, and disputes. This project designs a relational database with session-wise attendance and a two-level leave approval (Mentor, then HOD). Approved leave automatically updates attendance.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matching the schema, the attendance records, the leave workflow, the shortage report, and the integrity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Ten entities in three groups: master data, enrollment and attendance, and the leave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Department has many Faculty, Students and Courses. A faculty mentor has many students and a faculty member teaches many courses. Student to Course is M:N through Enrollment. Class_Session to Student is M:N through Attendance. Each student has many leave requests, each leave type has many requests, and each request has up to one approval per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seconds. 1NF: atomic attributes and primary keys. 2NF: in Enrollment and Attendance the non-key attributes depend on the whole key. 3NF: no transitive dependencies, because department names, leave type limits and course details live in their own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seconds. The student applies through sp_apply_leave, which checks overlap and the semester balance. The mentor decides first; a rejection closes the request. The HOD decides only after mentor approval. On final approval a trigger marks attendance as On Leave for sessions in the date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integrity is enforced inside the database: constraints, indexes, two views, one stored procedure, two triggers, and nine report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minutes, live. Run the CREATE statements, the inserts (at least 5 records per table), then the SELECT statements with joins and aggregates. Finish with the approval trigger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formula, then the expected results: Rahul goes from 50% to 100% once the HOD approves his leave, Sneha stays closed after the mentor rejects it, and Q2 lists students below 75%.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 minutes, live. Show an insert, a delete, and a view in the UI, and after each one show the change reflected in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 for questions. Any member may be asked about any part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40280"/>
            <a:ext cx="67665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Student Attendance and Leave Approval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822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DBMS COURSE PROJECT  ·  FINAL PRESENTATION</a:t>
            </a:r>
            <a:endParaRPr lang="en-US" sz="1400" dirty="0"/>
          </a:p>
        </p:txBody>
      </p:sp>
      <p:sp>
        <p:nvSpPr>
          <p:cNvPr id="3" name="Title prefix"/>
          <p:cNvSpPr txBox="1"/>
          <p:nvPr/>
        </p:nvSpPr>
        <p:spPr>
          <a:xfrm>
            <a:off x="731520" y="14630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Design and Implementation of a Database Management System for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24028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Student Attendance and Leave Approval System</a:t>
            </a:r>
            <a:endParaRPr lang="en-US" sz="4400" dirty="0"/>
          </a:p>
        </p:txBody>
      </p:sp>
      <p:sp>
        <p:nvSpPr>
          <p:cNvPr id="5" name="Members label"/>
          <p:cNvSpPr txBox="1"/>
          <p:nvPr/>
        </p:nvSpPr>
        <p:spPr>
          <a:xfrm>
            <a:off x="73152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GROUP MEMBERS</a:t>
            </a:r>
            <a:endParaRPr lang="en-US" sz="1200" dirty="0"/>
          </a:p>
        </p:txBody>
      </p:sp>
      <p:sp>
        <p:nvSpPr>
          <p:cNvPr id="6" name="Members"/>
          <p:cNvSpPr txBox="1"/>
          <p:nvPr/>
        </p:nvSpPr>
        <p:spPr>
          <a:xfrm>
            <a:off x="731520" y="5120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Shaurya Mittal  ·  25WU0101128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Vanshika Rao  ·  25WU0701027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Samarth Samanekar  ·  25WU0101119</a:t>
            </a:r>
            <a:endParaRPr lang="en-US" sz="1600" dirty="0"/>
          </a:p>
        </p:txBody>
      </p:sp>
      <p:sp>
        <p:nvSpPr>
          <p:cNvPr id="7" name="Grid 1-1"/>
          <p:cNvSpPr/>
          <p:nvPr/>
        </p:nvSpPr>
        <p:spPr>
          <a:xfrm>
            <a:off x="83210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8" name="Grid 1-2"/>
          <p:cNvSpPr/>
          <p:nvPr/>
        </p:nvSpPr>
        <p:spPr>
          <a:xfrm>
            <a:off x="886968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9" name="Grid 1-3"/>
          <p:cNvSpPr/>
          <p:nvPr/>
        </p:nvSpPr>
        <p:spPr>
          <a:xfrm>
            <a:off x="941832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0" name="Grid 1-4"/>
          <p:cNvSpPr/>
          <p:nvPr/>
        </p:nvSpPr>
        <p:spPr>
          <a:xfrm>
            <a:off x="996696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1" name="Grid 1-5"/>
          <p:cNvSpPr/>
          <p:nvPr/>
        </p:nvSpPr>
        <p:spPr>
          <a:xfrm>
            <a:off x="1051560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2" name="Grid 1-6"/>
          <p:cNvSpPr/>
          <p:nvPr/>
        </p:nvSpPr>
        <p:spPr>
          <a:xfrm>
            <a:off x="110642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3" name="Grid 2-1"/>
          <p:cNvSpPr/>
          <p:nvPr/>
        </p:nvSpPr>
        <p:spPr>
          <a:xfrm>
            <a:off x="832104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4" name="Grid 2-2"/>
          <p:cNvSpPr/>
          <p:nvPr/>
        </p:nvSpPr>
        <p:spPr>
          <a:xfrm>
            <a:off x="886968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5" name="Grid 2-3"/>
          <p:cNvSpPr/>
          <p:nvPr/>
        </p:nvSpPr>
        <p:spPr>
          <a:xfrm>
            <a:off x="941832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6" name="Grid 2-4"/>
          <p:cNvSpPr/>
          <p:nvPr/>
        </p:nvSpPr>
        <p:spPr>
          <a:xfrm>
            <a:off x="996696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7" name="Grid 2-5"/>
          <p:cNvSpPr/>
          <p:nvPr/>
        </p:nvSpPr>
        <p:spPr>
          <a:xfrm>
            <a:off x="1051560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8" name="Grid 2-6"/>
          <p:cNvSpPr/>
          <p:nvPr/>
        </p:nvSpPr>
        <p:spPr>
          <a:xfrm>
            <a:off x="1106424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9" name="Grid 3-1"/>
          <p:cNvSpPr/>
          <p:nvPr/>
        </p:nvSpPr>
        <p:spPr>
          <a:xfrm>
            <a:off x="832104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0" name="Grid 3-2"/>
          <p:cNvSpPr/>
          <p:nvPr/>
        </p:nvSpPr>
        <p:spPr>
          <a:xfrm>
            <a:off x="886968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1" name="Grid 3-3"/>
          <p:cNvSpPr/>
          <p:nvPr/>
        </p:nvSpPr>
        <p:spPr>
          <a:xfrm>
            <a:off x="941832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22" name="Grid 3-4"/>
          <p:cNvSpPr/>
          <p:nvPr/>
        </p:nvSpPr>
        <p:spPr>
          <a:xfrm>
            <a:off x="996696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23" name="Grid 3-5"/>
          <p:cNvSpPr/>
          <p:nvPr/>
        </p:nvSpPr>
        <p:spPr>
          <a:xfrm>
            <a:off x="1051560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4" name="Grid 3-6"/>
          <p:cNvSpPr/>
          <p:nvPr/>
        </p:nvSpPr>
        <p:spPr>
          <a:xfrm>
            <a:off x="1106424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5" name="Grid 4-1"/>
          <p:cNvSpPr/>
          <p:nvPr/>
        </p:nvSpPr>
        <p:spPr>
          <a:xfrm>
            <a:off x="832104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6" name="Grid 4-2"/>
          <p:cNvSpPr/>
          <p:nvPr/>
        </p:nvSpPr>
        <p:spPr>
          <a:xfrm>
            <a:off x="886968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7" name="Grid 4-3"/>
          <p:cNvSpPr/>
          <p:nvPr/>
        </p:nvSpPr>
        <p:spPr>
          <a:xfrm>
            <a:off x="941832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8" name="Grid 4-4"/>
          <p:cNvSpPr/>
          <p:nvPr/>
        </p:nvSpPr>
        <p:spPr>
          <a:xfrm>
            <a:off x="996696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9" name="Grid 4-5"/>
          <p:cNvSpPr/>
          <p:nvPr/>
        </p:nvSpPr>
        <p:spPr>
          <a:xfrm>
            <a:off x="1051560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30" name="Grid 4-6"/>
          <p:cNvSpPr/>
          <p:nvPr/>
        </p:nvSpPr>
        <p:spPr>
          <a:xfrm>
            <a:off x="1106424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31" name="Grid 5-1"/>
          <p:cNvSpPr/>
          <p:nvPr/>
        </p:nvSpPr>
        <p:spPr>
          <a:xfrm>
            <a:off x="832104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32" name="Grid 5-2"/>
          <p:cNvSpPr/>
          <p:nvPr/>
        </p:nvSpPr>
        <p:spPr>
          <a:xfrm>
            <a:off x="886968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33" name="Grid 5-3"/>
          <p:cNvSpPr/>
          <p:nvPr/>
        </p:nvSpPr>
        <p:spPr>
          <a:xfrm>
            <a:off x="941832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34" name="Grid 5-4"/>
          <p:cNvSpPr/>
          <p:nvPr/>
        </p:nvSpPr>
        <p:spPr>
          <a:xfrm>
            <a:off x="996696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35" name="Grid 5-5"/>
          <p:cNvSpPr/>
          <p:nvPr/>
        </p:nvSpPr>
        <p:spPr>
          <a:xfrm>
            <a:off x="1051560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36" name="Grid 5-6"/>
          <p:cNvSpPr/>
          <p:nvPr/>
        </p:nvSpPr>
        <p:spPr>
          <a:xfrm>
            <a:off x="1106424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37" name="Grid 6-1"/>
          <p:cNvSpPr/>
          <p:nvPr/>
        </p:nvSpPr>
        <p:spPr>
          <a:xfrm>
            <a:off x="83210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38" name="Grid 6-2"/>
          <p:cNvSpPr/>
          <p:nvPr/>
        </p:nvSpPr>
        <p:spPr>
          <a:xfrm>
            <a:off x="886968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39" name="Grid 6-3"/>
          <p:cNvSpPr/>
          <p:nvPr/>
        </p:nvSpPr>
        <p:spPr>
          <a:xfrm>
            <a:off x="941832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40" name="Grid 6-4"/>
          <p:cNvSpPr/>
          <p:nvPr/>
        </p:nvSpPr>
        <p:spPr>
          <a:xfrm>
            <a:off x="996696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41" name="Grid 6-5"/>
          <p:cNvSpPr/>
          <p:nvPr/>
        </p:nvSpPr>
        <p:spPr>
          <a:xfrm>
            <a:off x="1051560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42" name="Grid 6-6"/>
          <p:cNvSpPr/>
          <p:nvPr/>
        </p:nvSpPr>
        <p:spPr>
          <a:xfrm>
            <a:off x="110642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43" name="Legend dot Present"/>
          <p:cNvSpPr/>
          <p:nvPr/>
        </p:nvSpPr>
        <p:spPr>
          <a:xfrm>
            <a:off x="8321040" y="5111496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4" name="Legend Present"/>
          <p:cNvSpPr txBox="1"/>
          <p:nvPr/>
        </p:nvSpPr>
        <p:spPr>
          <a:xfrm>
            <a:off x="8595360" y="5074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Present</a:t>
            </a:r>
            <a:endParaRPr lang="en-US" sz="1400" dirty="0"/>
          </a:p>
        </p:txBody>
      </p:sp>
      <p:sp>
        <p:nvSpPr>
          <p:cNvPr id="45" name="Legend dot Late"/>
          <p:cNvSpPr/>
          <p:nvPr/>
        </p:nvSpPr>
        <p:spPr>
          <a:xfrm>
            <a:off x="9966960" y="5111496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Legend Late"/>
          <p:cNvSpPr txBox="1"/>
          <p:nvPr/>
        </p:nvSpPr>
        <p:spPr>
          <a:xfrm>
            <a:off x="10241280" y="5074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Late</a:t>
            </a:r>
            <a:endParaRPr lang="en-US" sz="1400" dirty="0"/>
          </a:p>
        </p:txBody>
      </p:sp>
      <p:sp>
        <p:nvSpPr>
          <p:cNvPr id="47" name="Legend dot Absent"/>
          <p:cNvSpPr/>
          <p:nvPr/>
        </p:nvSpPr>
        <p:spPr>
          <a:xfrm>
            <a:off x="8321040" y="5458968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8" name="Legend Absent"/>
          <p:cNvSpPr txBox="1"/>
          <p:nvPr/>
        </p:nvSpPr>
        <p:spPr>
          <a:xfrm>
            <a:off x="8595360" y="5422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Absent</a:t>
            </a:r>
            <a:endParaRPr lang="en-US" sz="1400" dirty="0"/>
          </a:p>
        </p:txBody>
      </p:sp>
      <p:sp>
        <p:nvSpPr>
          <p:cNvPr id="49" name="Legend dot On Leave"/>
          <p:cNvSpPr/>
          <p:nvPr/>
        </p:nvSpPr>
        <p:spPr>
          <a:xfrm>
            <a:off x="9966960" y="5458968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0" name="Legend On Leave"/>
          <p:cNvSpPr txBox="1"/>
          <p:nvPr/>
        </p:nvSpPr>
        <p:spPr>
          <a:xfrm>
            <a:off x="10241280" y="5422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 Leave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problem with paper attendance</a:t>
            </a:r>
            <a:endParaRPr lang="en-US" sz="3600" dirty="0"/>
          </a:p>
        </p:txBody>
      </p:sp>
      <p:sp>
        <p:nvSpPr>
          <p:cNvPr id="3" name="Today card"/>
          <p:cNvSpPr/>
          <p:nvPr/>
        </p:nvSpPr>
        <p:spPr>
          <a:xfrm>
            <a:off x="548640" y="1463040"/>
            <a:ext cx="4846320" cy="3657600"/>
          </a:xfrm>
          <a:prstGeom prst="roundRect">
            <a:avLst>
              <a:gd name="adj" fmla="val 3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4" name="Project card"/>
          <p:cNvSpPr/>
          <p:nvPr/>
        </p:nvSpPr>
        <p:spPr>
          <a:xfrm>
            <a:off x="6796735" y="1463040"/>
            <a:ext cx="4846320" cy="3657600"/>
          </a:xfrm>
          <a:prstGeom prst="roundRect">
            <a:avLst>
              <a:gd name="adj" fmla="val 3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Today heading"/>
          <p:cNvSpPr txBox="1"/>
          <p:nvPr/>
        </p:nvSpPr>
        <p:spPr>
          <a:xfrm>
            <a:off x="86868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Today</a:t>
            </a:r>
            <a:endParaRPr lang="en-US" sz="2200" dirty="0"/>
          </a:p>
        </p:txBody>
      </p:sp>
      <p:sp>
        <p:nvSpPr>
          <p:cNvPr id="6" name="Project heading"/>
          <p:cNvSpPr txBox="1"/>
          <p:nvPr/>
        </p:nvSpPr>
        <p:spPr>
          <a:xfrm>
            <a:off x="7116775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This project</a:t>
            </a:r>
            <a:endParaRPr lang="en-US" sz="2200" dirty="0"/>
          </a:p>
        </p:txBody>
      </p:sp>
      <p:sp>
        <p:nvSpPr>
          <p:cNvPr id="7" name="Icon circle FaFileAlt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 FaFileAlt" descr="File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274320" cy="274320"/>
          </a:xfrm>
          <a:prstGeom prst="rect">
            <a:avLst/>
          </a:prstGeom>
        </p:spPr>
      </p:pic>
      <p:sp>
        <p:nvSpPr>
          <p:cNvPr id="9" name="Today row 1"/>
          <p:cNvSpPr txBox="1"/>
          <p:nvPr/>
        </p:nvSpPr>
        <p:spPr>
          <a:xfrm>
            <a:off x="1645920" y="23088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Errors in paper attendance registers</a:t>
            </a:r>
            <a:endParaRPr lang="en-US" sz="1600" dirty="0"/>
          </a:p>
        </p:txBody>
      </p:sp>
      <p:sp>
        <p:nvSpPr>
          <p:cNvPr id="10" name="Icon circle FaHourglassHalf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 FaHourglassHalf" descr="HourglassHalf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383280"/>
            <a:ext cx="274320" cy="274320"/>
          </a:xfrm>
          <a:prstGeom prst="rect">
            <a:avLst/>
          </a:prstGeom>
        </p:spPr>
      </p:pic>
      <p:sp>
        <p:nvSpPr>
          <p:cNvPr id="12" name="Today row 2"/>
          <p:cNvSpPr txBox="1"/>
          <p:nvPr/>
        </p:nvSpPr>
        <p:spPr>
          <a:xfrm>
            <a:off x="1645920" y="31775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Delays from informal leave approvals</a:t>
            </a:r>
            <a:endParaRPr lang="en-US" sz="1600" dirty="0"/>
          </a:p>
        </p:txBody>
      </p:sp>
      <p:sp>
        <p:nvSpPr>
          <p:cNvPr id="13" name="Icon circle FaBalanceScale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con FaBalanceScale" descr="BalanceSca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51960"/>
            <a:ext cx="274320" cy="274320"/>
          </a:xfrm>
          <a:prstGeom prst="rect">
            <a:avLst/>
          </a:prstGeom>
        </p:spPr>
      </p:pic>
      <p:sp>
        <p:nvSpPr>
          <p:cNvPr id="15" name="Today row 3"/>
          <p:cNvSpPr txBox="1"/>
          <p:nvPr/>
        </p:nvSpPr>
        <p:spPr>
          <a:xfrm>
            <a:off x="1645920" y="40462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Disputes over attendance percentages</a:t>
            </a:r>
            <a:endParaRPr lang="en-US" sz="1600" dirty="0"/>
          </a:p>
        </p:txBody>
      </p:sp>
      <p:sp>
        <p:nvSpPr>
          <p:cNvPr id="16" name="Icon circle FaDatabase"/>
          <p:cNvSpPr/>
          <p:nvPr/>
        </p:nvSpPr>
        <p:spPr>
          <a:xfrm>
            <a:off x="7116775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FaDatabase" descr="Databa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935" y="2514600"/>
            <a:ext cx="274320" cy="274320"/>
          </a:xfrm>
          <a:prstGeom prst="rect">
            <a:avLst/>
          </a:prstGeom>
        </p:spPr>
      </p:pic>
      <p:sp>
        <p:nvSpPr>
          <p:cNvPr id="18" name="Project row 1"/>
          <p:cNvSpPr txBox="1"/>
          <p:nvPr/>
        </p:nvSpPr>
        <p:spPr>
          <a:xfrm>
            <a:off x="7894015" y="23088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Session-wise attendance stored in a relational database</a:t>
            </a:r>
            <a:endParaRPr lang="en-US" sz="1600" dirty="0"/>
          </a:p>
        </p:txBody>
      </p:sp>
      <p:sp>
        <p:nvSpPr>
          <p:cNvPr id="19" name="Icon circle FaUserCheck"/>
          <p:cNvSpPr/>
          <p:nvPr/>
        </p:nvSpPr>
        <p:spPr>
          <a:xfrm>
            <a:off x="7116775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FaUserCheck" descr="User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935" y="3383280"/>
            <a:ext cx="274320" cy="274320"/>
          </a:xfrm>
          <a:prstGeom prst="rect">
            <a:avLst/>
          </a:prstGeom>
        </p:spPr>
      </p:pic>
      <p:sp>
        <p:nvSpPr>
          <p:cNvPr id="21" name="Project row 2"/>
          <p:cNvSpPr txBox="1"/>
          <p:nvPr/>
        </p:nvSpPr>
        <p:spPr>
          <a:xfrm>
            <a:off x="7894015" y="31775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Two-level leave approval: Mentor, then HOD</a:t>
            </a:r>
            <a:endParaRPr lang="en-US" sz="1600" dirty="0"/>
          </a:p>
        </p:txBody>
      </p:sp>
      <p:sp>
        <p:nvSpPr>
          <p:cNvPr id="22" name="Icon circle FaSyncAlt"/>
          <p:cNvSpPr/>
          <p:nvPr/>
        </p:nvSpPr>
        <p:spPr>
          <a:xfrm>
            <a:off x="7116775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 FaSyncAlt" descr="SyncAl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935" y="4251960"/>
            <a:ext cx="274320" cy="274320"/>
          </a:xfrm>
          <a:prstGeom prst="rect">
            <a:avLst/>
          </a:prstGeom>
        </p:spPr>
      </p:pic>
      <p:sp>
        <p:nvSpPr>
          <p:cNvPr id="24" name="Project row 3"/>
          <p:cNvSpPr txBox="1"/>
          <p:nvPr/>
        </p:nvSpPr>
        <p:spPr>
          <a:xfrm>
            <a:off x="7894015" y="40462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Approved leave automatically updates attendance</a:t>
            </a:r>
            <a:endParaRPr lang="en-US" sz="1600" dirty="0"/>
          </a:p>
        </p:txBody>
      </p:sp>
      <p:sp>
        <p:nvSpPr>
          <p:cNvPr id="25" name="Icon circle FaArrowRight"/>
          <p:cNvSpPr/>
          <p:nvPr/>
        </p:nvSpPr>
        <p:spPr>
          <a:xfrm>
            <a:off x="5775808" y="3017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con FaArrowRight" descr="ArrowRigh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5828" y="3177540"/>
            <a:ext cx="320040" cy="320040"/>
          </a:xfrm>
          <a:prstGeom prst="rect">
            <a:avLst/>
          </a:prstGeom>
        </p:spPr>
      </p:pic>
      <p:sp>
        <p:nvSpPr>
          <p:cNvPr id="27" name="Users label"/>
          <p:cNvSpPr txBox="1"/>
          <p:nvPr/>
        </p:nvSpPr>
        <p:spPr>
          <a:xfrm>
            <a:off x="548640" y="5440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Intended users</a:t>
            </a:r>
            <a:endParaRPr lang="en-US" sz="1600" dirty="0"/>
          </a:p>
        </p:txBody>
      </p:sp>
      <p:sp>
        <p:nvSpPr>
          <p:cNvPr id="28" name="User chip 1"/>
          <p:cNvSpPr/>
          <p:nvPr/>
        </p:nvSpPr>
        <p:spPr>
          <a:xfrm>
            <a:off x="2651760" y="544068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9" name="Icon circle FaUserGraduate"/>
          <p:cNvSpPr/>
          <p:nvPr/>
        </p:nvSpPr>
        <p:spPr>
          <a:xfrm>
            <a:off x="2761488" y="5532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 FaUserGraduate" descr="UserGraduat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5623560"/>
            <a:ext cx="182880" cy="182880"/>
          </a:xfrm>
          <a:prstGeom prst="rect">
            <a:avLst/>
          </a:prstGeom>
        </p:spPr>
      </p:pic>
      <p:sp>
        <p:nvSpPr>
          <p:cNvPr id="31" name="User chip text 1"/>
          <p:cNvSpPr txBox="1"/>
          <p:nvPr/>
        </p:nvSpPr>
        <p:spPr>
          <a:xfrm>
            <a:off x="3246120" y="5440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apply for leave</a:t>
            </a:r>
            <a:endParaRPr lang="en-US" sz="1400" dirty="0"/>
          </a:p>
        </p:txBody>
      </p:sp>
      <p:sp>
        <p:nvSpPr>
          <p:cNvPr id="32" name="User chip 2"/>
          <p:cNvSpPr/>
          <p:nvPr/>
        </p:nvSpPr>
        <p:spPr>
          <a:xfrm>
            <a:off x="5669280" y="544068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3" name="Icon circle FaChalkboardTeacher"/>
          <p:cNvSpPr/>
          <p:nvPr/>
        </p:nvSpPr>
        <p:spPr>
          <a:xfrm>
            <a:off x="5779008" y="5532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 FaChalkboardTeacher" descr="ChalkboardTeacher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5623560"/>
            <a:ext cx="182880" cy="182880"/>
          </a:xfrm>
          <a:prstGeom prst="rect">
            <a:avLst/>
          </a:prstGeom>
        </p:spPr>
      </p:pic>
      <p:sp>
        <p:nvSpPr>
          <p:cNvPr id="35" name="User chip text 2"/>
          <p:cNvSpPr txBox="1"/>
          <p:nvPr/>
        </p:nvSpPr>
        <p:spPr>
          <a:xfrm>
            <a:off x="6263640" y="5440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Mentors review requests</a:t>
            </a:r>
            <a:endParaRPr lang="en-US" sz="1400" dirty="0"/>
          </a:p>
        </p:txBody>
      </p:sp>
      <p:sp>
        <p:nvSpPr>
          <p:cNvPr id="36" name="User chip 3"/>
          <p:cNvSpPr/>
          <p:nvPr/>
        </p:nvSpPr>
        <p:spPr>
          <a:xfrm>
            <a:off x="8686800" y="544068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7" name="Icon circle FaUserTie"/>
          <p:cNvSpPr/>
          <p:nvPr/>
        </p:nvSpPr>
        <p:spPr>
          <a:xfrm>
            <a:off x="8796528" y="5532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con FaUserTie" descr="UserTi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7968" y="5623560"/>
            <a:ext cx="182880" cy="182880"/>
          </a:xfrm>
          <a:prstGeom prst="rect">
            <a:avLst/>
          </a:prstGeom>
        </p:spPr>
      </p:pic>
      <p:sp>
        <p:nvSpPr>
          <p:cNvPr id="39" name="User chip text 3"/>
          <p:cNvSpPr txBox="1"/>
          <p:nvPr/>
        </p:nvSpPr>
        <p:spPr>
          <a:xfrm>
            <a:off x="9281160" y="5440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HODs give final approval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Project objectives</a:t>
            </a:r>
            <a:endParaRPr lang="en-US" sz="3600" dirty="0"/>
          </a:p>
        </p:txBody>
      </p:sp>
      <p:sp>
        <p:nvSpPr>
          <p:cNvPr id="3" name="Objective card 1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Icon circle FaLayerGroup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FaLayerGroup" descr="LayerGrou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840230"/>
            <a:ext cx="297180" cy="297180"/>
          </a:xfrm>
          <a:prstGeom prst="rect">
            <a:avLst/>
          </a:prstGeom>
        </p:spPr>
      </p:pic>
      <p:sp>
        <p:nvSpPr>
          <p:cNvPr id="6" name="Objective heading 1"/>
          <p:cNvSpPr txBox="1"/>
          <p:nvPr/>
        </p:nvSpPr>
        <p:spPr>
          <a:xfrm>
            <a:off x="82296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Normalized schema</a:t>
            </a:r>
            <a:endParaRPr lang="en-US" sz="2000" dirty="0"/>
          </a:p>
        </p:txBody>
      </p:sp>
      <p:sp>
        <p:nvSpPr>
          <p:cNvPr id="7" name="Objective text 1"/>
          <p:cNvSpPr txBox="1"/>
          <p:nvPr/>
        </p:nvSpPr>
        <p:spPr>
          <a:xfrm>
            <a:off x="822960" y="27889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Store students, faculty, courses, and enrollments.</a:t>
            </a:r>
            <a:endParaRPr lang="en-US" sz="1500" dirty="0"/>
          </a:p>
        </p:txBody>
      </p:sp>
      <p:sp>
        <p:nvSpPr>
          <p:cNvPr id="8" name="Objective card 2"/>
          <p:cNvSpPr/>
          <p:nvPr/>
        </p:nvSpPr>
        <p:spPr>
          <a:xfrm>
            <a:off x="434340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9" name="Icon circle FaClipboardList"/>
          <p:cNvSpPr/>
          <p:nvPr/>
        </p:nvSpPr>
        <p:spPr>
          <a:xfrm>
            <a:off x="461772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FaClipboardList" descr="ClipboardLi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840230"/>
            <a:ext cx="297180" cy="297180"/>
          </a:xfrm>
          <a:prstGeom prst="rect">
            <a:avLst/>
          </a:prstGeom>
        </p:spPr>
      </p:pic>
      <p:sp>
        <p:nvSpPr>
          <p:cNvPr id="11" name="Objective heading 2"/>
          <p:cNvSpPr txBox="1"/>
          <p:nvPr/>
        </p:nvSpPr>
        <p:spPr>
          <a:xfrm>
            <a:off x="461772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Session-wise attendance</a:t>
            </a:r>
            <a:endParaRPr lang="en-US" sz="2000" dirty="0"/>
          </a:p>
        </p:txBody>
      </p:sp>
      <p:sp>
        <p:nvSpPr>
          <p:cNvPr id="12" name="Objective text 2"/>
          <p:cNvSpPr txBox="1"/>
          <p:nvPr/>
        </p:nvSpPr>
        <p:spPr>
          <a:xfrm>
            <a:off x="4617720" y="27889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Record attendance per class session.</a:t>
            </a:r>
            <a:endParaRPr lang="en-US" sz="1500" dirty="0"/>
          </a:p>
        </p:txBody>
      </p:sp>
      <p:sp>
        <p:nvSpPr>
          <p:cNvPr id="13" name="Objective card 3"/>
          <p:cNvSpPr/>
          <p:nvPr/>
        </p:nvSpPr>
        <p:spPr>
          <a:xfrm>
            <a:off x="813816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4" name="Icon circle FaCalendarCheck"/>
          <p:cNvSpPr/>
          <p:nvPr/>
        </p:nvSpPr>
        <p:spPr>
          <a:xfrm>
            <a:off x="841248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FaCalendarCheck" descr="Calendar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070" y="1840230"/>
            <a:ext cx="297180" cy="297180"/>
          </a:xfrm>
          <a:prstGeom prst="rect">
            <a:avLst/>
          </a:prstGeom>
        </p:spPr>
      </p:pic>
      <p:sp>
        <p:nvSpPr>
          <p:cNvPr id="16" name="Objective heading 3"/>
          <p:cNvSpPr txBox="1"/>
          <p:nvPr/>
        </p:nvSpPr>
        <p:spPr>
          <a:xfrm>
            <a:off x="841248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Leave workflow</a:t>
            </a:r>
            <a:endParaRPr lang="en-US" sz="2000" dirty="0"/>
          </a:p>
        </p:txBody>
      </p:sp>
      <p:sp>
        <p:nvSpPr>
          <p:cNvPr id="17" name="Objective text 3"/>
          <p:cNvSpPr txBox="1"/>
          <p:nvPr/>
        </p:nvSpPr>
        <p:spPr>
          <a:xfrm>
            <a:off x="8412480" y="27889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Manage leave requests and the approval workflow.</a:t>
            </a:r>
            <a:endParaRPr lang="en-US" sz="1500" dirty="0"/>
          </a:p>
        </p:txBody>
      </p:sp>
      <p:sp>
        <p:nvSpPr>
          <p:cNvPr id="18" name="Objective card 4"/>
          <p:cNvSpPr/>
          <p:nvPr/>
        </p:nvSpPr>
        <p:spPr>
          <a:xfrm>
            <a:off x="54864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9" name="Icon circle FaExclamationTriangle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FaExclamationTriangle" descr="ExclamationTriang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309110"/>
            <a:ext cx="297180" cy="297180"/>
          </a:xfrm>
          <a:prstGeom prst="rect">
            <a:avLst/>
          </a:prstGeom>
        </p:spPr>
      </p:pic>
      <p:sp>
        <p:nvSpPr>
          <p:cNvPr id="21" name="Objective heading 4"/>
          <p:cNvSpPr txBox="1"/>
          <p:nvPr/>
        </p:nvSpPr>
        <p:spPr>
          <a:xfrm>
            <a:off x="82296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Shortage flags</a:t>
            </a:r>
            <a:endParaRPr lang="en-US" sz="2000" dirty="0"/>
          </a:p>
        </p:txBody>
      </p:sp>
      <p:sp>
        <p:nvSpPr>
          <p:cNvPr id="22" name="Objective text 4"/>
          <p:cNvSpPr txBox="1"/>
          <p:nvPr/>
        </p:nvSpPr>
        <p:spPr>
          <a:xfrm>
            <a:off x="822960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Calculate attendance percentages and flag shortages below 75%.</a:t>
            </a:r>
            <a:endParaRPr lang="en-US" sz="1500" dirty="0"/>
          </a:p>
        </p:txBody>
      </p:sp>
      <p:sp>
        <p:nvSpPr>
          <p:cNvPr id="23" name="Objective card 5"/>
          <p:cNvSpPr/>
          <p:nvPr/>
        </p:nvSpPr>
        <p:spPr>
          <a:xfrm>
            <a:off x="434340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4" name="Icon circle FaShieldAlt"/>
          <p:cNvSpPr/>
          <p:nvPr/>
        </p:nvSpPr>
        <p:spPr>
          <a:xfrm>
            <a:off x="461772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FaShieldAlt" descr="Shield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4309110"/>
            <a:ext cx="297180" cy="297180"/>
          </a:xfrm>
          <a:prstGeom prst="rect">
            <a:avLst/>
          </a:prstGeom>
        </p:spPr>
      </p:pic>
      <p:sp>
        <p:nvSpPr>
          <p:cNvPr id="26" name="Objective heading 5"/>
          <p:cNvSpPr txBox="1"/>
          <p:nvPr/>
        </p:nvSpPr>
        <p:spPr>
          <a:xfrm>
            <a:off x="461772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integrity</a:t>
            </a:r>
            <a:endParaRPr lang="en-US" sz="2000" dirty="0"/>
          </a:p>
        </p:txBody>
      </p:sp>
      <p:sp>
        <p:nvSpPr>
          <p:cNvPr id="27" name="Objective text 5"/>
          <p:cNvSpPr txBox="1"/>
          <p:nvPr/>
        </p:nvSpPr>
        <p:spPr>
          <a:xfrm>
            <a:off x="4617720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Enforce rules with constraints, triggers, and procedures.</a:t>
            </a:r>
            <a:endParaRPr lang="en-US" sz="1500" dirty="0"/>
          </a:p>
        </p:txBody>
      </p:sp>
      <p:sp>
        <p:nvSpPr>
          <p:cNvPr id="28" name="Threshold card"/>
          <p:cNvSpPr/>
          <p:nvPr/>
        </p:nvSpPr>
        <p:spPr>
          <a:xfrm>
            <a:off x="813816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29" name="Threshold number"/>
          <p:cNvSpPr txBox="1"/>
          <p:nvPr/>
        </p:nvSpPr>
        <p:spPr>
          <a:xfrm>
            <a:off x="8412480" y="4114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75%</a:t>
            </a:r>
            <a:endParaRPr lang="en-US" sz="6600" dirty="0"/>
          </a:p>
        </p:txBody>
      </p:sp>
      <p:sp>
        <p:nvSpPr>
          <p:cNvPr id="30" name="Threshold text"/>
          <p:cNvSpPr txBox="1"/>
          <p:nvPr/>
        </p:nvSpPr>
        <p:spPr>
          <a:xfrm>
            <a:off x="8412480" y="51663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Attendance below this threshold is flagged as a shortage.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ER design: ten entities</a:t>
            </a:r>
            <a:endParaRPr lang="en-US" sz="3600" dirty="0"/>
          </a:p>
        </p:txBody>
      </p:sp>
      <p:sp>
        <p:nvSpPr>
          <p:cNvPr id="3" name="Entity card Department"/>
          <p:cNvSpPr/>
          <p:nvPr/>
        </p:nvSpPr>
        <p:spPr>
          <a:xfrm>
            <a:off x="548640" y="146304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Entity name Department"/>
          <p:cNvSpPr txBox="1"/>
          <p:nvPr/>
        </p:nvSpPr>
        <p:spPr>
          <a:xfrm>
            <a:off x="658368" y="157276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Department</a:t>
            </a:r>
            <a:endParaRPr lang="en-US" sz="1500" dirty="0"/>
          </a:p>
        </p:txBody>
      </p:sp>
      <p:sp>
        <p:nvSpPr>
          <p:cNvPr id="5" name="Entity attributes Department"/>
          <p:cNvSpPr txBox="1"/>
          <p:nvPr/>
        </p:nvSpPr>
        <p:spPr>
          <a:xfrm>
            <a:off x="749808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dept_id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dept_name</a:t>
            </a:r>
            <a:endParaRPr lang="en-US" sz="1400" dirty="0"/>
          </a:p>
        </p:txBody>
      </p:sp>
      <p:sp>
        <p:nvSpPr>
          <p:cNvPr id="6" name="Entity card Faculty"/>
          <p:cNvSpPr/>
          <p:nvPr/>
        </p:nvSpPr>
        <p:spPr>
          <a:xfrm>
            <a:off x="2816352" y="146304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7" name="Entity name Faculty"/>
          <p:cNvSpPr txBox="1"/>
          <p:nvPr/>
        </p:nvSpPr>
        <p:spPr>
          <a:xfrm>
            <a:off x="2926080" y="157276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Faculty</a:t>
            </a:r>
            <a:endParaRPr lang="en-US" sz="1500" dirty="0"/>
          </a:p>
        </p:txBody>
      </p:sp>
      <p:sp>
        <p:nvSpPr>
          <p:cNvPr id="8" name="Entity attributes Faculty"/>
          <p:cNvSpPr txBox="1"/>
          <p:nvPr/>
        </p:nvSpPr>
        <p:spPr>
          <a:xfrm>
            <a:off x="3017520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faculty_id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name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email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is_hod</a:t>
            </a:r>
            <a:endParaRPr lang="en-US" sz="1400" dirty="0"/>
          </a:p>
        </p:txBody>
      </p:sp>
      <p:sp>
        <p:nvSpPr>
          <p:cNvPr id="9" name="Entity card Student"/>
          <p:cNvSpPr/>
          <p:nvPr/>
        </p:nvSpPr>
        <p:spPr>
          <a:xfrm>
            <a:off x="5084064" y="146304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Entity name Student"/>
          <p:cNvSpPr txBox="1"/>
          <p:nvPr/>
        </p:nvSpPr>
        <p:spPr>
          <a:xfrm>
            <a:off x="5193792" y="157276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Student</a:t>
            </a:r>
            <a:endParaRPr lang="en-US" sz="1500" dirty="0"/>
          </a:p>
        </p:txBody>
      </p:sp>
      <p:sp>
        <p:nvSpPr>
          <p:cNvPr id="11" name="Entity attributes Student"/>
          <p:cNvSpPr txBox="1"/>
          <p:nvPr/>
        </p:nvSpPr>
        <p:spPr>
          <a:xfrm>
            <a:off x="5285232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student_id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roll_no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name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semester</a:t>
            </a:r>
            <a:endParaRPr lang="en-US" sz="1400" dirty="0"/>
          </a:p>
        </p:txBody>
      </p:sp>
      <p:sp>
        <p:nvSpPr>
          <p:cNvPr id="12" name="Entity card Course"/>
          <p:cNvSpPr/>
          <p:nvPr/>
        </p:nvSpPr>
        <p:spPr>
          <a:xfrm>
            <a:off x="7351776" y="146304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3" name="Entity name Course"/>
          <p:cNvSpPr txBox="1"/>
          <p:nvPr/>
        </p:nvSpPr>
        <p:spPr>
          <a:xfrm>
            <a:off x="7461504" y="157276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Course</a:t>
            </a:r>
            <a:endParaRPr lang="en-US" sz="1500" dirty="0"/>
          </a:p>
        </p:txBody>
      </p:sp>
      <p:sp>
        <p:nvSpPr>
          <p:cNvPr id="14" name="Entity attributes Course"/>
          <p:cNvSpPr txBox="1"/>
          <p:nvPr/>
        </p:nvSpPr>
        <p:spPr>
          <a:xfrm>
            <a:off x="7552944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course_id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course_code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credits</a:t>
            </a:r>
            <a:endParaRPr lang="en-US" sz="1400" dirty="0"/>
          </a:p>
        </p:txBody>
      </p:sp>
      <p:sp>
        <p:nvSpPr>
          <p:cNvPr id="15" name="Entity card Enrollment"/>
          <p:cNvSpPr/>
          <p:nvPr/>
        </p:nvSpPr>
        <p:spPr>
          <a:xfrm>
            <a:off x="9619488" y="146304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6" name="Entity name Enrollment"/>
          <p:cNvSpPr txBox="1"/>
          <p:nvPr/>
        </p:nvSpPr>
        <p:spPr>
          <a:xfrm>
            <a:off x="9729216" y="157276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Enrollment</a:t>
            </a:r>
            <a:endParaRPr lang="en-US" sz="1500" dirty="0"/>
          </a:p>
        </p:txBody>
      </p:sp>
      <p:sp>
        <p:nvSpPr>
          <p:cNvPr id="17" name="Entity attributes Enrollment"/>
          <p:cNvSpPr txBox="1"/>
          <p:nvPr/>
        </p:nvSpPr>
        <p:spPr>
          <a:xfrm>
            <a:off x="9820656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student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course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academic_year</a:t>
            </a:r>
            <a:endParaRPr lang="en-US" sz="1400" dirty="0"/>
          </a:p>
        </p:txBody>
      </p:sp>
      <p:sp>
        <p:nvSpPr>
          <p:cNvPr id="18" name="Entity card Class_Session"/>
          <p:cNvSpPr/>
          <p:nvPr/>
        </p:nvSpPr>
        <p:spPr>
          <a:xfrm>
            <a:off x="548640" y="365760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9" name="Entity name Class_Session"/>
          <p:cNvSpPr txBox="1"/>
          <p:nvPr/>
        </p:nvSpPr>
        <p:spPr>
          <a:xfrm>
            <a:off x="658368" y="376732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Class_Session</a:t>
            </a:r>
            <a:endParaRPr lang="en-US" sz="1500" dirty="0"/>
          </a:p>
        </p:txBody>
      </p:sp>
      <p:sp>
        <p:nvSpPr>
          <p:cNvPr id="20" name="Entity attributes Class_Session"/>
          <p:cNvSpPr txBox="1"/>
          <p:nvPr/>
        </p:nvSpPr>
        <p:spPr>
          <a:xfrm>
            <a:off x="749808" y="4389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session_id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time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topic</a:t>
            </a:r>
            <a:endParaRPr lang="en-US" sz="1400" dirty="0"/>
          </a:p>
        </p:txBody>
      </p:sp>
      <p:sp>
        <p:nvSpPr>
          <p:cNvPr id="21" name="Entity card Attendance"/>
          <p:cNvSpPr/>
          <p:nvPr/>
        </p:nvSpPr>
        <p:spPr>
          <a:xfrm>
            <a:off x="2816352" y="365760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2" name="Entity name Attendance"/>
          <p:cNvSpPr txBox="1"/>
          <p:nvPr/>
        </p:nvSpPr>
        <p:spPr>
          <a:xfrm>
            <a:off x="2926080" y="376732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Attendance</a:t>
            </a:r>
            <a:endParaRPr lang="en-US" sz="1500" dirty="0"/>
          </a:p>
        </p:txBody>
      </p:sp>
      <p:sp>
        <p:nvSpPr>
          <p:cNvPr id="23" name="Entity attributes Attendance"/>
          <p:cNvSpPr txBox="1"/>
          <p:nvPr/>
        </p:nvSpPr>
        <p:spPr>
          <a:xfrm>
            <a:off x="3017520" y="4389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session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student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status</a:t>
            </a:r>
            <a:endParaRPr lang="en-US" sz="1400" dirty="0"/>
          </a:p>
        </p:txBody>
      </p:sp>
      <p:sp>
        <p:nvSpPr>
          <p:cNvPr id="24" name="Entity card Leave_Type"/>
          <p:cNvSpPr/>
          <p:nvPr/>
        </p:nvSpPr>
        <p:spPr>
          <a:xfrm>
            <a:off x="5084064" y="365760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5" name="Entity name Leave_Type"/>
          <p:cNvSpPr txBox="1"/>
          <p:nvPr/>
        </p:nvSpPr>
        <p:spPr>
          <a:xfrm>
            <a:off x="5193792" y="376732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Leave_Type</a:t>
            </a:r>
            <a:endParaRPr lang="en-US" sz="1500" dirty="0"/>
          </a:p>
        </p:txBody>
      </p:sp>
      <p:sp>
        <p:nvSpPr>
          <p:cNvPr id="26" name="Entity attributes Leave_Type"/>
          <p:cNvSpPr txBox="1"/>
          <p:nvPr/>
        </p:nvSpPr>
        <p:spPr>
          <a:xfrm>
            <a:off x="5285232" y="4389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type_name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max_days_per_sem</a:t>
            </a:r>
            <a:endParaRPr lang="en-US" sz="1400" dirty="0"/>
          </a:p>
        </p:txBody>
      </p:sp>
      <p:sp>
        <p:nvSpPr>
          <p:cNvPr id="27" name="Entity card Leave_Request"/>
          <p:cNvSpPr/>
          <p:nvPr/>
        </p:nvSpPr>
        <p:spPr>
          <a:xfrm>
            <a:off x="7351776" y="365760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8" name="Entity name Leave_Request"/>
          <p:cNvSpPr txBox="1"/>
          <p:nvPr/>
        </p:nvSpPr>
        <p:spPr>
          <a:xfrm>
            <a:off x="7461504" y="376732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Leave_Request</a:t>
            </a:r>
            <a:endParaRPr lang="en-US" sz="1500" dirty="0"/>
          </a:p>
        </p:txBody>
      </p:sp>
      <p:sp>
        <p:nvSpPr>
          <p:cNvPr id="29" name="Entity attributes Leave_Request"/>
          <p:cNvSpPr txBox="1"/>
          <p:nvPr/>
        </p:nvSpPr>
        <p:spPr>
          <a:xfrm>
            <a:off x="7552944" y="4389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from_date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to_date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reason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status</a:t>
            </a:r>
            <a:endParaRPr lang="en-US" sz="1400" dirty="0"/>
          </a:p>
        </p:txBody>
      </p:sp>
      <p:sp>
        <p:nvSpPr>
          <p:cNvPr id="30" name="Entity card Leave_Approval"/>
          <p:cNvSpPr/>
          <p:nvPr/>
        </p:nvSpPr>
        <p:spPr>
          <a:xfrm>
            <a:off x="9619488" y="3657600"/>
            <a:ext cx="2039112" cy="1920240"/>
          </a:xfrm>
          <a:prstGeom prst="roundRect">
            <a:avLst>
              <a:gd name="adj" fmla="val 571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1" name="Entity name Leave_Approval"/>
          <p:cNvSpPr txBox="1"/>
          <p:nvPr/>
        </p:nvSpPr>
        <p:spPr>
          <a:xfrm>
            <a:off x="9729216" y="3767328"/>
            <a:ext cx="1819656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Leave_Approval</a:t>
            </a:r>
            <a:endParaRPr lang="en-US" sz="1500" dirty="0"/>
          </a:p>
        </p:txBody>
      </p:sp>
      <p:sp>
        <p:nvSpPr>
          <p:cNvPr id="32" name="Entity attributes Leave_Approval"/>
          <p:cNvSpPr txBox="1"/>
          <p:nvPr/>
        </p:nvSpPr>
        <p:spPr>
          <a:xfrm>
            <a:off x="9820656" y="4389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level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decision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remarks</a:t>
            </a:r>
            <a:endParaRPr lang="en-US" sz="1400" dirty="0"/>
          </a:p>
        </p:txBody>
      </p:sp>
      <p:sp>
        <p:nvSpPr>
          <p:cNvPr id="33" name="Legend dot Master data"/>
          <p:cNvSpPr/>
          <p:nvPr/>
        </p:nvSpPr>
        <p:spPr>
          <a:xfrm>
            <a:off x="548640" y="587959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Legend Master data"/>
          <p:cNvSpPr txBox="1"/>
          <p:nvPr/>
        </p:nvSpPr>
        <p:spPr>
          <a:xfrm>
            <a:off x="841248" y="5833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Master data</a:t>
            </a:r>
            <a:endParaRPr lang="en-US" sz="1400" dirty="0"/>
          </a:p>
        </p:txBody>
      </p:sp>
      <p:sp>
        <p:nvSpPr>
          <p:cNvPr id="35" name="Legend dot Enrollment and attendance"/>
          <p:cNvSpPr/>
          <p:nvPr/>
        </p:nvSpPr>
        <p:spPr>
          <a:xfrm>
            <a:off x="2560320" y="587959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Legend Enrollment and attendance"/>
          <p:cNvSpPr txBox="1"/>
          <p:nvPr/>
        </p:nvSpPr>
        <p:spPr>
          <a:xfrm>
            <a:off x="2852928" y="5833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Enrollment and attendance</a:t>
            </a:r>
            <a:endParaRPr lang="en-US" sz="1400" dirty="0"/>
          </a:p>
        </p:txBody>
      </p:sp>
      <p:sp>
        <p:nvSpPr>
          <p:cNvPr id="37" name="Legend dot Leave workflow"/>
          <p:cNvSpPr/>
          <p:nvPr/>
        </p:nvSpPr>
        <p:spPr>
          <a:xfrm>
            <a:off x="5669280" y="587959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Legend Leave workflow"/>
          <p:cNvSpPr txBox="1"/>
          <p:nvPr/>
        </p:nvSpPr>
        <p:spPr>
          <a:xfrm>
            <a:off x="5961888" y="5833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Leave workflow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Relationships and cardinality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48" y="2057400"/>
            <a:ext cx="0" cy="6858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4" name="Cardinality 1"/>
          <p:cNvSpPr txBox="1"/>
          <p:nvPr/>
        </p:nvSpPr>
        <p:spPr>
          <a:xfrm>
            <a:off x="6123280" y="21214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Cardinality N"/>
          <p:cNvSpPr txBox="1"/>
          <p:nvPr/>
        </p:nvSpPr>
        <p:spPr>
          <a:xfrm>
            <a:off x="6123280" y="24414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64128" y="1783080"/>
            <a:ext cx="15316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64128" y="1783080"/>
            <a:ext cx="0" cy="9601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8" name="Cardinality 1"/>
          <p:cNvSpPr txBox="1"/>
          <p:nvPr/>
        </p:nvSpPr>
        <p:spPr>
          <a:xfrm>
            <a:off x="4975708" y="14996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Cardinality N"/>
          <p:cNvSpPr txBox="1"/>
          <p:nvPr/>
        </p:nvSpPr>
        <p:spPr>
          <a:xfrm>
            <a:off x="3791560" y="24414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95948" y="1783080"/>
            <a:ext cx="15316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7568" y="1783080"/>
            <a:ext cx="0" cy="9601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2" name="Cardinality 1"/>
          <p:cNvSpPr txBox="1"/>
          <p:nvPr/>
        </p:nvSpPr>
        <p:spPr>
          <a:xfrm>
            <a:off x="6941668" y="14996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Cardinality N"/>
          <p:cNvSpPr txBox="1"/>
          <p:nvPr/>
        </p:nvSpPr>
        <p:spPr>
          <a:xfrm>
            <a:off x="8455000" y="24414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64228" y="3017520"/>
            <a:ext cx="7315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5" name="Cardinality 1"/>
          <p:cNvSpPr txBox="1"/>
          <p:nvPr/>
        </p:nvSpPr>
        <p:spPr>
          <a:xfrm>
            <a:off x="497570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Cardinality N"/>
          <p:cNvSpPr txBox="1"/>
          <p:nvPr/>
        </p:nvSpPr>
        <p:spPr>
          <a:xfrm>
            <a:off x="460994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95948" y="3017520"/>
            <a:ext cx="7315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8" name="Cardinality 1"/>
          <p:cNvSpPr txBox="1"/>
          <p:nvPr/>
        </p:nvSpPr>
        <p:spPr>
          <a:xfrm>
            <a:off x="694166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Cardinality N"/>
          <p:cNvSpPr txBox="1"/>
          <p:nvPr/>
        </p:nvSpPr>
        <p:spPr>
          <a:xfrm>
            <a:off x="730742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32508" y="3017520"/>
            <a:ext cx="7315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1" name="Cardinality 1"/>
          <p:cNvSpPr txBox="1"/>
          <p:nvPr/>
        </p:nvSpPr>
        <p:spPr>
          <a:xfrm>
            <a:off x="264398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Cardinality N"/>
          <p:cNvSpPr txBox="1"/>
          <p:nvPr/>
        </p:nvSpPr>
        <p:spPr>
          <a:xfrm>
            <a:off x="227822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432408" y="3291840"/>
            <a:ext cx="0" cy="6858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4" name="Cardinality 1"/>
          <p:cNvSpPr txBox="1"/>
          <p:nvPr/>
        </p:nvSpPr>
        <p:spPr>
          <a:xfrm>
            <a:off x="1459840" y="36758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Cardinality N"/>
          <p:cNvSpPr txBox="1"/>
          <p:nvPr/>
        </p:nvSpPr>
        <p:spPr>
          <a:xfrm>
            <a:off x="1459840" y="33558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432408" y="2057400"/>
            <a:ext cx="0" cy="6858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7" name="Cardinality 1"/>
          <p:cNvSpPr txBox="1"/>
          <p:nvPr/>
        </p:nvSpPr>
        <p:spPr>
          <a:xfrm>
            <a:off x="1459840" y="24414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8" name="Cardinality N"/>
          <p:cNvSpPr txBox="1"/>
          <p:nvPr/>
        </p:nvSpPr>
        <p:spPr>
          <a:xfrm>
            <a:off x="1459840" y="21214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21328" y="3291840"/>
            <a:ext cx="0" cy="9601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21328" y="4251960"/>
            <a:ext cx="10744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1" name="Cardinality 1"/>
          <p:cNvSpPr txBox="1"/>
          <p:nvPr/>
        </p:nvSpPr>
        <p:spPr>
          <a:xfrm>
            <a:off x="4248760" y="33558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32" name="Cardinality N"/>
          <p:cNvSpPr txBox="1"/>
          <p:nvPr/>
        </p:nvSpPr>
        <p:spPr>
          <a:xfrm>
            <a:off x="4975708" y="39684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27568" y="3291840"/>
            <a:ext cx="0" cy="9601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95948" y="4251960"/>
            <a:ext cx="15316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5" name="Cardinality 1"/>
          <p:cNvSpPr txBox="1"/>
          <p:nvPr/>
        </p:nvSpPr>
        <p:spPr>
          <a:xfrm>
            <a:off x="8455000" y="33558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36" name="Cardinality N"/>
          <p:cNvSpPr txBox="1"/>
          <p:nvPr/>
        </p:nvSpPr>
        <p:spPr>
          <a:xfrm>
            <a:off x="6941668" y="39684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227668" y="3017520"/>
            <a:ext cx="7315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8" name="Cardinality 1"/>
          <p:cNvSpPr txBox="1"/>
          <p:nvPr/>
        </p:nvSpPr>
        <p:spPr>
          <a:xfrm>
            <a:off x="927338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39" name="Cardinality N"/>
          <p:cNvSpPr txBox="1"/>
          <p:nvPr/>
        </p:nvSpPr>
        <p:spPr>
          <a:xfrm>
            <a:off x="9639148" y="2734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759288" y="3291840"/>
            <a:ext cx="0" cy="6858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41" name="Cardinality 1"/>
          <p:cNvSpPr txBox="1"/>
          <p:nvPr/>
        </p:nvSpPr>
        <p:spPr>
          <a:xfrm>
            <a:off x="10786720" y="33558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42" name="Cardinality N"/>
          <p:cNvSpPr txBox="1"/>
          <p:nvPr/>
        </p:nvSpPr>
        <p:spPr>
          <a:xfrm>
            <a:off x="10786720" y="36758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398368" y="3291840"/>
            <a:ext cx="0" cy="18288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98368" y="5120640"/>
            <a:ext cx="73609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59288" y="4526280"/>
            <a:ext cx="0" cy="5943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46" name="Cardinality 1"/>
          <p:cNvSpPr txBox="1"/>
          <p:nvPr/>
        </p:nvSpPr>
        <p:spPr>
          <a:xfrm>
            <a:off x="3425800" y="33558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47" name="Cardinality N"/>
          <p:cNvSpPr txBox="1"/>
          <p:nvPr/>
        </p:nvSpPr>
        <p:spPr>
          <a:xfrm>
            <a:off x="10786720" y="45902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</a:t>
            </a:r>
            <a:endParaRPr lang="en-US" sz="1300" dirty="0"/>
          </a:p>
        </p:txBody>
      </p:sp>
      <p:sp>
        <p:nvSpPr>
          <p:cNvPr id="48" name="Relationship mentors"/>
          <p:cNvSpPr txBox="1"/>
          <p:nvPr/>
        </p:nvSpPr>
        <p:spPr>
          <a:xfrm>
            <a:off x="4564228" y="30723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mentors</a:t>
            </a:r>
            <a:endParaRPr lang="en-US" sz="1100" dirty="0"/>
          </a:p>
        </p:txBody>
      </p:sp>
      <p:sp>
        <p:nvSpPr>
          <p:cNvPr id="49" name="Relationship teaches"/>
          <p:cNvSpPr txBox="1"/>
          <p:nvPr/>
        </p:nvSpPr>
        <p:spPr>
          <a:xfrm>
            <a:off x="6895948" y="30723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teaches</a:t>
            </a:r>
            <a:endParaRPr lang="en-US" sz="1100" dirty="0"/>
          </a:p>
        </p:txBody>
      </p:sp>
      <p:sp>
        <p:nvSpPr>
          <p:cNvPr id="50" name="Node Department"/>
          <p:cNvSpPr txBox="1"/>
          <p:nvPr/>
        </p:nvSpPr>
        <p:spPr>
          <a:xfrm>
            <a:off x="5295748" y="150876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Department</a:t>
            </a:r>
            <a:endParaRPr lang="en-US" sz="1400" dirty="0"/>
          </a:p>
        </p:txBody>
      </p:sp>
      <p:sp>
        <p:nvSpPr>
          <p:cNvPr id="51" name="Node Faculty"/>
          <p:cNvSpPr txBox="1"/>
          <p:nvPr/>
        </p:nvSpPr>
        <p:spPr>
          <a:xfrm>
            <a:off x="5295748" y="274320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Faculty</a:t>
            </a:r>
            <a:endParaRPr lang="en-US" sz="1400" dirty="0"/>
          </a:p>
        </p:txBody>
      </p:sp>
      <p:sp>
        <p:nvSpPr>
          <p:cNvPr id="52" name="Node Student"/>
          <p:cNvSpPr txBox="1"/>
          <p:nvPr/>
        </p:nvSpPr>
        <p:spPr>
          <a:xfrm>
            <a:off x="2964028" y="274320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Student</a:t>
            </a:r>
            <a:endParaRPr lang="en-US" sz="1400" dirty="0"/>
          </a:p>
        </p:txBody>
      </p:sp>
      <p:sp>
        <p:nvSpPr>
          <p:cNvPr id="53" name="Node Course"/>
          <p:cNvSpPr txBox="1"/>
          <p:nvPr/>
        </p:nvSpPr>
        <p:spPr>
          <a:xfrm>
            <a:off x="7627468" y="274320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Course</a:t>
            </a:r>
            <a:endParaRPr lang="en-US" sz="1400" dirty="0"/>
          </a:p>
        </p:txBody>
      </p:sp>
      <p:sp>
        <p:nvSpPr>
          <p:cNvPr id="54" name="Node Enrollment"/>
          <p:cNvSpPr txBox="1"/>
          <p:nvPr/>
        </p:nvSpPr>
        <p:spPr>
          <a:xfrm>
            <a:off x="5295748" y="397764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Enrollment</a:t>
            </a:r>
            <a:endParaRPr lang="en-US" sz="1400" dirty="0"/>
          </a:p>
        </p:txBody>
      </p:sp>
      <p:sp>
        <p:nvSpPr>
          <p:cNvPr id="55" name="Node Class_Session"/>
          <p:cNvSpPr txBox="1"/>
          <p:nvPr/>
        </p:nvSpPr>
        <p:spPr>
          <a:xfrm>
            <a:off x="9959188" y="274320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Class_Session</a:t>
            </a:r>
            <a:endParaRPr lang="en-US" sz="1400" dirty="0"/>
          </a:p>
        </p:txBody>
      </p:sp>
      <p:sp>
        <p:nvSpPr>
          <p:cNvPr id="56" name="Node Attendance"/>
          <p:cNvSpPr txBox="1"/>
          <p:nvPr/>
        </p:nvSpPr>
        <p:spPr>
          <a:xfrm>
            <a:off x="9959188" y="397764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Attendance</a:t>
            </a:r>
            <a:endParaRPr lang="en-US" sz="1400" dirty="0"/>
          </a:p>
        </p:txBody>
      </p:sp>
      <p:sp>
        <p:nvSpPr>
          <p:cNvPr id="57" name="Node Leave_Request"/>
          <p:cNvSpPr txBox="1"/>
          <p:nvPr/>
        </p:nvSpPr>
        <p:spPr>
          <a:xfrm>
            <a:off x="632308" y="274320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Leave_Request</a:t>
            </a:r>
            <a:endParaRPr lang="en-US" sz="1400" dirty="0"/>
          </a:p>
        </p:txBody>
      </p:sp>
      <p:sp>
        <p:nvSpPr>
          <p:cNvPr id="58" name="Node Leave_Type"/>
          <p:cNvSpPr txBox="1"/>
          <p:nvPr/>
        </p:nvSpPr>
        <p:spPr>
          <a:xfrm>
            <a:off x="632308" y="397764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Leave_Type</a:t>
            </a:r>
            <a:endParaRPr lang="en-US" sz="1400" dirty="0"/>
          </a:p>
        </p:txBody>
      </p:sp>
      <p:sp>
        <p:nvSpPr>
          <p:cNvPr id="59" name="Node Leave_Approval"/>
          <p:cNvSpPr txBox="1"/>
          <p:nvPr/>
        </p:nvSpPr>
        <p:spPr>
          <a:xfrm>
            <a:off x="632308" y="1508760"/>
            <a:ext cx="16002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Leave_Approval</a:t>
            </a:r>
            <a:endParaRPr lang="en-US" sz="1400" dirty="0"/>
          </a:p>
        </p:txBody>
      </p:sp>
      <p:sp>
        <p:nvSpPr>
          <p:cNvPr id="60" name="Notation note"/>
          <p:cNvSpPr txBox="1"/>
          <p:nvPr/>
        </p:nvSpPr>
        <p:spPr>
          <a:xfrm>
            <a:off x="548640" y="566928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= one, N = many. Enrollment and Attendance are link tables that resolve the two M:N relationships (Student–Course and Class_Session–Student).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Normalization up to 3NF</a:t>
            </a:r>
            <a:endParaRPr lang="en-US" sz="3600" dirty="0"/>
          </a:p>
        </p:txBody>
      </p:sp>
      <p:sp>
        <p:nvSpPr>
          <p:cNvPr id="3" name="Normal form card 1NF"/>
          <p:cNvSpPr/>
          <p:nvPr/>
        </p:nvSpPr>
        <p:spPr>
          <a:xfrm>
            <a:off x="54864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Normal form 1NF"/>
          <p:cNvSpPr txBox="1"/>
          <p:nvPr/>
        </p:nvSpPr>
        <p:spPr>
          <a:xfrm>
            <a:off x="822960" y="1645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1NF</a:t>
            </a:r>
            <a:endParaRPr lang="en-US" sz="5400" dirty="0"/>
          </a:p>
        </p:txBody>
      </p:sp>
      <p:sp>
        <p:nvSpPr>
          <p:cNvPr id="5" name="Normal form text 1NF"/>
          <p:cNvSpPr txBox="1"/>
          <p:nvPr/>
        </p:nvSpPr>
        <p:spPr>
          <a:xfrm>
            <a:off x="822960" y="26974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 attributes are atomic, and every table has a primary key.</a:t>
            </a:r>
            <a:endParaRPr lang="en-US" sz="1600" dirty="0"/>
          </a:p>
        </p:txBody>
      </p:sp>
      <p:sp>
        <p:nvSpPr>
          <p:cNvPr id="6" name="Normal form card 2NF"/>
          <p:cNvSpPr/>
          <p:nvPr/>
        </p:nvSpPr>
        <p:spPr>
          <a:xfrm>
            <a:off x="434340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7" name="Normal form 2NF"/>
          <p:cNvSpPr txBox="1"/>
          <p:nvPr/>
        </p:nvSpPr>
        <p:spPr>
          <a:xfrm>
            <a:off x="4617720" y="1645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2NF</a:t>
            </a:r>
            <a:endParaRPr lang="en-US" sz="5400" dirty="0"/>
          </a:p>
        </p:txBody>
      </p:sp>
      <p:sp>
        <p:nvSpPr>
          <p:cNvPr id="8" name="Normal form text 2NF"/>
          <p:cNvSpPr txBox="1"/>
          <p:nvPr/>
        </p:nvSpPr>
        <p:spPr>
          <a:xfrm>
            <a:off x="4617720" y="26974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link tables (Enrollment, Attendance), non-key attributes depend on the whole key.</a:t>
            </a:r>
            <a:endParaRPr lang="en-US" sz="1600" dirty="0"/>
          </a:p>
        </p:txBody>
      </p:sp>
      <p:sp>
        <p:nvSpPr>
          <p:cNvPr id="9" name="Normal form card 3NF"/>
          <p:cNvSpPr/>
          <p:nvPr/>
        </p:nvSpPr>
        <p:spPr>
          <a:xfrm>
            <a:off x="813816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Normal form 3NF"/>
          <p:cNvSpPr txBox="1"/>
          <p:nvPr/>
        </p:nvSpPr>
        <p:spPr>
          <a:xfrm>
            <a:off x="8412480" y="1645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3NF</a:t>
            </a:r>
            <a:endParaRPr lang="en-US" sz="5400" dirty="0"/>
          </a:p>
        </p:txBody>
      </p:sp>
      <p:sp>
        <p:nvSpPr>
          <p:cNvPr id="11" name="Normal form text 3NF"/>
          <p:cNvSpPr txBox="1"/>
          <p:nvPr/>
        </p:nvSpPr>
        <p:spPr>
          <a:xfrm>
            <a:off x="8412480" y="26974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transitive dependencies. Department names, leave type limits, and course details live in their own tables, so none are repeated in the transactional tables.</a:t>
            </a:r>
            <a:endParaRPr lang="en-US" sz="1600" dirty="0"/>
          </a:p>
        </p:txBody>
      </p:sp>
      <p:sp>
        <p:nvSpPr>
          <p:cNvPr id="12" name="Label 1NF"/>
          <p:cNvSpPr txBox="1"/>
          <p:nvPr/>
        </p:nvSpPr>
        <p:spPr>
          <a:xfrm>
            <a:off x="822960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Checked in every table</a:t>
            </a:r>
            <a:endParaRPr lang="en-US" sz="1400" dirty="0"/>
          </a:p>
        </p:txBody>
      </p:sp>
      <p:sp>
        <p:nvSpPr>
          <p:cNvPr id="13" name="Chip 1NF Atomic values"/>
          <p:cNvSpPr/>
          <p:nvPr/>
        </p:nvSpPr>
        <p:spPr>
          <a:xfrm>
            <a:off x="822960" y="448056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Chip text 1NF Atomic values"/>
          <p:cNvSpPr txBox="1"/>
          <p:nvPr/>
        </p:nvSpPr>
        <p:spPr>
          <a:xfrm>
            <a:off x="822960" y="4480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Atomic values</a:t>
            </a:r>
            <a:endParaRPr lang="en-US" sz="1300" dirty="0"/>
          </a:p>
        </p:txBody>
      </p:sp>
      <p:sp>
        <p:nvSpPr>
          <p:cNvPr id="15" name="Chip 1NF Primary key"/>
          <p:cNvSpPr/>
          <p:nvPr/>
        </p:nvSpPr>
        <p:spPr>
          <a:xfrm>
            <a:off x="2240280" y="448056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Chip text 1NF Primary key"/>
          <p:cNvSpPr txBox="1"/>
          <p:nvPr/>
        </p:nvSpPr>
        <p:spPr>
          <a:xfrm>
            <a:off x="2240280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Primary key</a:t>
            </a:r>
            <a:endParaRPr lang="en-US" sz="1300" dirty="0"/>
          </a:p>
        </p:txBody>
      </p:sp>
      <p:sp>
        <p:nvSpPr>
          <p:cNvPr id="17" name="Label 2NF"/>
          <p:cNvSpPr txBox="1"/>
          <p:nvPr/>
        </p:nvSpPr>
        <p:spPr>
          <a:xfrm>
            <a:off x="4617720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Example in Attendance</a:t>
            </a:r>
            <a:endParaRPr lang="en-US" sz="1400" dirty="0"/>
          </a:p>
        </p:txBody>
      </p:sp>
      <p:sp>
        <p:nvSpPr>
          <p:cNvPr id="18" name="Dependency chip"/>
          <p:cNvSpPr/>
          <p:nvPr/>
        </p:nvSpPr>
        <p:spPr>
          <a:xfrm>
            <a:off x="4617720" y="4480560"/>
            <a:ext cx="29718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Dependency text"/>
          <p:cNvSpPr txBox="1"/>
          <p:nvPr/>
        </p:nvSpPr>
        <p:spPr>
          <a:xfrm>
            <a:off x="4617720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(session, student) → status</a:t>
            </a:r>
            <a:endParaRPr lang="en-US" sz="1500" dirty="0"/>
          </a:p>
        </p:txBody>
      </p:sp>
      <p:sp>
        <p:nvSpPr>
          <p:cNvPr id="20" name="Dependency caption"/>
          <p:cNvSpPr txBox="1"/>
          <p:nvPr/>
        </p:nvSpPr>
        <p:spPr>
          <a:xfrm>
            <a:off x="4617720" y="5029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Status depends on both parts of the key, not on either part alone.</a:t>
            </a:r>
            <a:endParaRPr lang="en-US" sz="1400" dirty="0"/>
          </a:p>
        </p:txBody>
      </p:sp>
      <p:sp>
        <p:nvSpPr>
          <p:cNvPr id="21" name="Label 3NF"/>
          <p:cNvSpPr txBox="1"/>
          <p:nvPr/>
        </p:nvSpPr>
        <p:spPr>
          <a:xfrm>
            <a:off x="8412480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Each in its own table</a:t>
            </a:r>
            <a:endParaRPr lang="en-US" sz="1400" dirty="0"/>
          </a:p>
        </p:txBody>
      </p:sp>
      <p:sp>
        <p:nvSpPr>
          <p:cNvPr id="22" name="Chip 3NF Department"/>
          <p:cNvSpPr/>
          <p:nvPr/>
        </p:nvSpPr>
        <p:spPr>
          <a:xfrm>
            <a:off x="8412480" y="4480560"/>
            <a:ext cx="11430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Chip text 3NF Department"/>
          <p:cNvSpPr txBox="1"/>
          <p:nvPr/>
        </p:nvSpPr>
        <p:spPr>
          <a:xfrm>
            <a:off x="8412480" y="4480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Department</a:t>
            </a:r>
            <a:endParaRPr lang="en-US" sz="1300" dirty="0"/>
          </a:p>
        </p:txBody>
      </p:sp>
      <p:sp>
        <p:nvSpPr>
          <p:cNvPr id="24" name="Chip 3NF Leave_Type"/>
          <p:cNvSpPr/>
          <p:nvPr/>
        </p:nvSpPr>
        <p:spPr>
          <a:xfrm>
            <a:off x="9646920" y="448056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Chip text 3NF Leave_Type"/>
          <p:cNvSpPr txBox="1"/>
          <p:nvPr/>
        </p:nvSpPr>
        <p:spPr>
          <a:xfrm>
            <a:off x="9646920" y="4480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Leave_Type</a:t>
            </a:r>
            <a:endParaRPr lang="en-US" sz="1300" dirty="0"/>
          </a:p>
        </p:txBody>
      </p:sp>
      <p:sp>
        <p:nvSpPr>
          <p:cNvPr id="26" name="Chip 3NF Course"/>
          <p:cNvSpPr/>
          <p:nvPr/>
        </p:nvSpPr>
        <p:spPr>
          <a:xfrm>
            <a:off x="10835640" y="4480560"/>
            <a:ext cx="7315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Chip text 3NF Course"/>
          <p:cNvSpPr txBox="1"/>
          <p:nvPr/>
        </p:nvSpPr>
        <p:spPr>
          <a:xfrm>
            <a:off x="10835640" y="4480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Course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Two-level leave approval workflow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2331720" cy="2468880"/>
          </a:xfrm>
          <a:prstGeom prst="roundRect">
            <a:avLst>
              <a:gd name="adj" fmla="val 470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tep heading 1"/>
          <p:cNvSpPr txBox="1"/>
          <p:nvPr/>
        </p:nvSpPr>
        <p:spPr>
          <a:xfrm>
            <a:off x="7315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Student applies</a:t>
            </a:r>
            <a:endParaRPr lang="en-US" sz="1800" dirty="0"/>
          </a:p>
        </p:txBody>
      </p:sp>
      <p:sp>
        <p:nvSpPr>
          <p:cNvPr id="6" name="Step text 1"/>
          <p:cNvSpPr txBox="1"/>
          <p:nvPr/>
        </p:nvSpPr>
        <p:spPr>
          <a:xfrm>
            <a:off x="73152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sp_apply_leave checks overlap and balance.</a:t>
            </a:r>
            <a:endParaRPr lang="en-US" sz="1400" dirty="0"/>
          </a:p>
        </p:txBody>
      </p:sp>
      <p:sp>
        <p:nvSpPr>
          <p:cNvPr id="7" name="Status pill 1"/>
          <p:cNvSpPr txBox="1"/>
          <p:nvPr/>
        </p:nvSpPr>
        <p:spPr>
          <a:xfrm>
            <a:off x="731520" y="3429000"/>
            <a:ext cx="196596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Status: Pending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697480"/>
            <a:ext cx="50292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ep card 2"/>
          <p:cNvSpPr/>
          <p:nvPr/>
        </p:nvSpPr>
        <p:spPr>
          <a:xfrm>
            <a:off x="3474720" y="1463040"/>
            <a:ext cx="2331720" cy="2468880"/>
          </a:xfrm>
          <a:prstGeom prst="roundRect">
            <a:avLst>
              <a:gd name="adj" fmla="val 470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365760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tep heading 2"/>
          <p:cNvSpPr txBox="1"/>
          <p:nvPr/>
        </p:nvSpPr>
        <p:spPr>
          <a:xfrm>
            <a:off x="365760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Mentor decision</a:t>
            </a:r>
            <a:endParaRPr lang="en-US" sz="1800" dirty="0"/>
          </a:p>
        </p:txBody>
      </p:sp>
      <p:sp>
        <p:nvSpPr>
          <p:cNvPr id="12" name="Step text 2"/>
          <p:cNvSpPr txBox="1"/>
          <p:nvPr/>
        </p:nvSpPr>
        <p:spPr>
          <a:xfrm>
            <a:off x="365760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mentor approves or rejects the request.</a:t>
            </a:r>
            <a:endParaRPr lang="en-US" sz="1400" dirty="0"/>
          </a:p>
        </p:txBody>
      </p:sp>
      <p:sp>
        <p:nvSpPr>
          <p:cNvPr id="13" name="Status pill 2"/>
          <p:cNvSpPr txBox="1"/>
          <p:nvPr/>
        </p:nvSpPr>
        <p:spPr>
          <a:xfrm>
            <a:off x="3657600" y="3429000"/>
            <a:ext cx="19659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Status: Mentor Approved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697480"/>
            <a:ext cx="50292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tep card 3"/>
          <p:cNvSpPr/>
          <p:nvPr/>
        </p:nvSpPr>
        <p:spPr>
          <a:xfrm>
            <a:off x="6400800" y="1463040"/>
            <a:ext cx="2331720" cy="2468880"/>
          </a:xfrm>
          <a:prstGeom prst="roundRect">
            <a:avLst>
              <a:gd name="adj" fmla="val 470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6" name="Step number 3"/>
          <p:cNvSpPr txBox="1"/>
          <p:nvPr/>
        </p:nvSpPr>
        <p:spPr>
          <a:xfrm>
            <a:off x="658368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tep heading 3"/>
          <p:cNvSpPr txBox="1"/>
          <p:nvPr/>
        </p:nvSpPr>
        <p:spPr>
          <a:xfrm>
            <a:off x="658368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HOD decision</a:t>
            </a:r>
            <a:endParaRPr lang="en-US" sz="1800" dirty="0"/>
          </a:p>
        </p:txBody>
      </p:sp>
      <p:sp>
        <p:nvSpPr>
          <p:cNvPr id="18" name="Step text 3"/>
          <p:cNvSpPr txBox="1"/>
          <p:nvPr/>
        </p:nvSpPr>
        <p:spPr>
          <a:xfrm>
            <a:off x="658368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Allowed only after mentor approval.</a:t>
            </a:r>
            <a:endParaRPr lang="en-US" sz="1400" dirty="0"/>
          </a:p>
        </p:txBody>
      </p:sp>
      <p:sp>
        <p:nvSpPr>
          <p:cNvPr id="19" name="Status pill 3"/>
          <p:cNvSpPr txBox="1"/>
          <p:nvPr/>
        </p:nvSpPr>
        <p:spPr>
          <a:xfrm>
            <a:off x="6583680" y="3429000"/>
            <a:ext cx="19659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Status: Approved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2697480"/>
            <a:ext cx="50292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tep card 4"/>
          <p:cNvSpPr/>
          <p:nvPr/>
        </p:nvSpPr>
        <p:spPr>
          <a:xfrm>
            <a:off x="9326880" y="1463040"/>
            <a:ext cx="2331720" cy="2468880"/>
          </a:xfrm>
          <a:prstGeom prst="roundRect">
            <a:avLst>
              <a:gd name="adj" fmla="val 470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2" name="Step number 4"/>
          <p:cNvSpPr txBox="1"/>
          <p:nvPr/>
        </p:nvSpPr>
        <p:spPr>
          <a:xfrm>
            <a:off x="950976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Step heading 4"/>
          <p:cNvSpPr txBox="1"/>
          <p:nvPr/>
        </p:nvSpPr>
        <p:spPr>
          <a:xfrm>
            <a:off x="95097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Attendance updated</a:t>
            </a:r>
            <a:endParaRPr lang="en-US" sz="1800" dirty="0"/>
          </a:p>
        </p:txBody>
      </p:sp>
      <p:sp>
        <p:nvSpPr>
          <p:cNvPr id="24" name="Step text 4"/>
          <p:cNvSpPr txBox="1"/>
          <p:nvPr/>
        </p:nvSpPr>
        <p:spPr>
          <a:xfrm>
            <a:off x="950976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trigger marks 'On Leave' for every session in the date range.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714500" y="3931920"/>
            <a:ext cx="0" cy="41148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Branch label 1"/>
          <p:cNvSpPr txBox="1"/>
          <p:nvPr/>
        </p:nvSpPr>
        <p:spPr>
          <a:xfrm>
            <a:off x="1828800" y="40050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Check fails</a:t>
            </a:r>
            <a:endParaRPr lang="en-US" sz="1200" dirty="0"/>
          </a:p>
        </p:txBody>
      </p:sp>
      <p:sp>
        <p:nvSpPr>
          <p:cNvPr id="27" name="Rejected card 1"/>
          <p:cNvSpPr/>
          <p:nvPr/>
        </p:nvSpPr>
        <p:spPr>
          <a:xfrm>
            <a:off x="548640" y="4343400"/>
            <a:ext cx="2331720" cy="1005840"/>
          </a:xfrm>
          <a:prstGeom prst="roundRect">
            <a:avLst>
              <a:gd name="adj" fmla="val 109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8" name="Rejected heading 1"/>
          <p:cNvSpPr txBox="1"/>
          <p:nvPr/>
        </p:nvSpPr>
        <p:spPr>
          <a:xfrm>
            <a:off x="73152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Blocked at entry</a:t>
            </a:r>
            <a:endParaRPr lang="en-US" sz="1600" dirty="0"/>
          </a:p>
        </p:txBody>
      </p:sp>
      <p:sp>
        <p:nvSpPr>
          <p:cNvPr id="29" name="Rejected text 1"/>
          <p:cNvSpPr txBox="1"/>
          <p:nvPr/>
        </p:nvSpPr>
        <p:spPr>
          <a:xfrm>
            <a:off x="731520" y="4782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Overlap or balance exceeded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40580" y="3931920"/>
            <a:ext cx="0" cy="41148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Branch label 2"/>
          <p:cNvSpPr txBox="1"/>
          <p:nvPr/>
        </p:nvSpPr>
        <p:spPr>
          <a:xfrm>
            <a:off x="4754880" y="40050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Reject</a:t>
            </a:r>
            <a:endParaRPr lang="en-US" sz="1200" dirty="0"/>
          </a:p>
        </p:txBody>
      </p:sp>
      <p:sp>
        <p:nvSpPr>
          <p:cNvPr id="32" name="Rejected card 2"/>
          <p:cNvSpPr/>
          <p:nvPr/>
        </p:nvSpPr>
        <p:spPr>
          <a:xfrm>
            <a:off x="3474720" y="4343400"/>
            <a:ext cx="2331720" cy="1005840"/>
          </a:xfrm>
          <a:prstGeom prst="roundRect">
            <a:avLst>
              <a:gd name="adj" fmla="val 109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3" name="Rejected heading 2"/>
          <p:cNvSpPr txBox="1"/>
          <p:nvPr/>
        </p:nvSpPr>
        <p:spPr>
          <a:xfrm>
            <a:off x="36576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Rejected</a:t>
            </a:r>
            <a:endParaRPr lang="en-US" sz="1600" dirty="0"/>
          </a:p>
        </p:txBody>
      </p:sp>
      <p:sp>
        <p:nvSpPr>
          <p:cNvPr id="34" name="Rejected text 2"/>
          <p:cNvSpPr txBox="1"/>
          <p:nvPr/>
        </p:nvSpPr>
        <p:spPr>
          <a:xfrm>
            <a:off x="3657600" y="4782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closed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66660" y="3931920"/>
            <a:ext cx="0" cy="41148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6" name="Branch label 3"/>
          <p:cNvSpPr txBox="1"/>
          <p:nvPr/>
        </p:nvSpPr>
        <p:spPr>
          <a:xfrm>
            <a:off x="7680960" y="40050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Reject</a:t>
            </a:r>
            <a:endParaRPr lang="en-US" sz="1200" dirty="0"/>
          </a:p>
        </p:txBody>
      </p:sp>
      <p:sp>
        <p:nvSpPr>
          <p:cNvPr id="37" name="Rejected card 3"/>
          <p:cNvSpPr/>
          <p:nvPr/>
        </p:nvSpPr>
        <p:spPr>
          <a:xfrm>
            <a:off x="6400800" y="4343400"/>
            <a:ext cx="2331720" cy="1005840"/>
          </a:xfrm>
          <a:prstGeom prst="roundRect">
            <a:avLst>
              <a:gd name="adj" fmla="val 1090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8" name="Rejected heading 3"/>
          <p:cNvSpPr txBox="1"/>
          <p:nvPr/>
        </p:nvSpPr>
        <p:spPr>
          <a:xfrm>
            <a:off x="658368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Rejected</a:t>
            </a:r>
            <a:endParaRPr lang="en-US" sz="1600" dirty="0"/>
          </a:p>
        </p:txBody>
      </p:sp>
      <p:sp>
        <p:nvSpPr>
          <p:cNvPr id="39" name="Rejected text 3"/>
          <p:cNvSpPr txBox="1"/>
          <p:nvPr/>
        </p:nvSpPr>
        <p:spPr>
          <a:xfrm>
            <a:off x="6583680" y="4782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closed</a:t>
            </a:r>
            <a:endParaRPr lang="en-US" sz="1400" dirty="0"/>
          </a:p>
        </p:txBody>
      </p:sp>
      <p:sp>
        <p:nvSpPr>
          <p:cNvPr id="40" name="Rule banner"/>
          <p:cNvSpPr/>
          <p:nvPr/>
        </p:nvSpPr>
        <p:spPr>
          <a:xfrm>
            <a:off x="548640" y="5623560"/>
            <a:ext cx="1110996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41" name="Rule banner text"/>
          <p:cNvSpPr txBox="1"/>
          <p:nvPr/>
        </p:nvSpPr>
        <p:spPr>
          <a:xfrm>
            <a:off x="822960" y="562356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HOD can decide only after the mentor approves, and the database enforces this order.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Database features</a:t>
            </a:r>
            <a:endParaRPr lang="en-US" sz="3600" dirty="0"/>
          </a:p>
        </p:txBody>
      </p:sp>
      <p:sp>
        <p:nvSpPr>
          <p:cNvPr id="3" name="Feature row Constraints"/>
          <p:cNvSpPr/>
          <p:nvPr/>
        </p:nvSpPr>
        <p:spPr>
          <a:xfrm>
            <a:off x="548640" y="1463040"/>
            <a:ext cx="11109960" cy="676656"/>
          </a:xfrm>
          <a:prstGeom prst="roundRect">
            <a:avLst>
              <a:gd name="adj" fmla="val 1351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" name="Icon circle FaKey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FaKey" descr="Ke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87068"/>
            <a:ext cx="228600" cy="228600"/>
          </a:xfrm>
          <a:prstGeom prst="rect">
            <a:avLst/>
          </a:prstGeom>
        </p:spPr>
      </p:pic>
      <p:sp>
        <p:nvSpPr>
          <p:cNvPr id="6" name="Feature name Constraints"/>
          <p:cNvSpPr txBox="1"/>
          <p:nvPr/>
        </p:nvSpPr>
        <p:spPr>
          <a:xfrm>
            <a:off x="1463040" y="146304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Constraints</a:t>
            </a:r>
            <a:endParaRPr lang="en-US" sz="1800" dirty="0"/>
          </a:p>
        </p:txBody>
      </p:sp>
      <p:sp>
        <p:nvSpPr>
          <p:cNvPr id="7" name="Feature text Constraints"/>
          <p:cNvSpPr txBox="1"/>
          <p:nvPr/>
        </p:nvSpPr>
        <p:spPr>
          <a:xfrm>
            <a:off x="3383280" y="1463040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PK, FK, UNIQUE, CHECK (to_date &gt;= from_date, end_time &gt; start_time), and ENUM status values.</a:t>
            </a:r>
            <a:endParaRPr lang="en-US" sz="1500" dirty="0"/>
          </a:p>
        </p:txBody>
      </p:sp>
      <p:sp>
        <p:nvSpPr>
          <p:cNvPr id="8" name="Feature row Indexes"/>
          <p:cNvSpPr/>
          <p:nvPr/>
        </p:nvSpPr>
        <p:spPr>
          <a:xfrm>
            <a:off x="548640" y="2212848"/>
            <a:ext cx="11109960" cy="676656"/>
          </a:xfrm>
          <a:prstGeom prst="roundRect">
            <a:avLst>
              <a:gd name="adj" fmla="val 1351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9" name="Icon circle FaListUl"/>
          <p:cNvSpPr/>
          <p:nvPr/>
        </p:nvSpPr>
        <p:spPr>
          <a:xfrm>
            <a:off x="777240" y="23225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FaListUl" descr="ListU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436876"/>
            <a:ext cx="228600" cy="228600"/>
          </a:xfrm>
          <a:prstGeom prst="rect">
            <a:avLst/>
          </a:prstGeom>
        </p:spPr>
      </p:pic>
      <p:sp>
        <p:nvSpPr>
          <p:cNvPr id="11" name="Feature name Indexes"/>
          <p:cNvSpPr txBox="1"/>
          <p:nvPr/>
        </p:nvSpPr>
        <p:spPr>
          <a:xfrm>
            <a:off x="1463040" y="221284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Indexes</a:t>
            </a:r>
            <a:endParaRPr lang="en-US" sz="1800" dirty="0"/>
          </a:p>
        </p:txBody>
      </p:sp>
      <p:sp>
        <p:nvSpPr>
          <p:cNvPr id="12" name="Feature text Indexes"/>
          <p:cNvSpPr txBox="1"/>
          <p:nvPr/>
        </p:nvSpPr>
        <p:spPr>
          <a:xfrm>
            <a:off x="3383280" y="2212848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attendance(student), leave_request(student, status), and the session date.</a:t>
            </a:r>
            <a:endParaRPr lang="en-US" sz="1500" dirty="0"/>
          </a:p>
        </p:txBody>
      </p:sp>
      <p:sp>
        <p:nvSpPr>
          <p:cNvPr id="13" name="Feature row Views"/>
          <p:cNvSpPr/>
          <p:nvPr/>
        </p:nvSpPr>
        <p:spPr>
          <a:xfrm>
            <a:off x="548640" y="2962656"/>
            <a:ext cx="11109960" cy="676656"/>
          </a:xfrm>
          <a:prstGeom prst="roundRect">
            <a:avLst>
              <a:gd name="adj" fmla="val 1351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4" name="Icon circle FaEye"/>
          <p:cNvSpPr/>
          <p:nvPr/>
        </p:nvSpPr>
        <p:spPr>
          <a:xfrm>
            <a:off x="777240" y="3072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FaEye" descr="Ey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186684"/>
            <a:ext cx="228600" cy="228600"/>
          </a:xfrm>
          <a:prstGeom prst="rect">
            <a:avLst/>
          </a:prstGeom>
        </p:spPr>
      </p:pic>
      <p:sp>
        <p:nvSpPr>
          <p:cNvPr id="16" name="Feature name Views"/>
          <p:cNvSpPr txBox="1"/>
          <p:nvPr/>
        </p:nvSpPr>
        <p:spPr>
          <a:xfrm>
            <a:off x="1463040" y="296265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Views</a:t>
            </a:r>
            <a:endParaRPr lang="en-US" sz="1800" dirty="0"/>
          </a:p>
        </p:txBody>
      </p:sp>
      <p:sp>
        <p:nvSpPr>
          <p:cNvPr id="17" name="Feature text Views"/>
          <p:cNvSpPr txBox="1"/>
          <p:nvPr/>
        </p:nvSpPr>
        <p:spPr>
          <a:xfrm>
            <a:off x="3383280" y="2962656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v_attendance_percentage and v_pending_leaves.</a:t>
            </a:r>
            <a:endParaRPr lang="en-US" sz="1500" dirty="0"/>
          </a:p>
        </p:txBody>
      </p:sp>
      <p:sp>
        <p:nvSpPr>
          <p:cNvPr id="18" name="Feature row Procedure"/>
          <p:cNvSpPr/>
          <p:nvPr/>
        </p:nvSpPr>
        <p:spPr>
          <a:xfrm>
            <a:off x="548640" y="3712464"/>
            <a:ext cx="11109960" cy="676656"/>
          </a:xfrm>
          <a:prstGeom prst="roundRect">
            <a:avLst>
              <a:gd name="adj" fmla="val 1351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9" name="Icon circle FaCogs"/>
          <p:cNvSpPr/>
          <p:nvPr/>
        </p:nvSpPr>
        <p:spPr>
          <a:xfrm>
            <a:off x="777240" y="3822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FaCogs" descr="Cog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936492"/>
            <a:ext cx="228600" cy="228600"/>
          </a:xfrm>
          <a:prstGeom prst="rect">
            <a:avLst/>
          </a:prstGeom>
        </p:spPr>
      </p:pic>
      <p:sp>
        <p:nvSpPr>
          <p:cNvPr id="21" name="Feature name Procedure"/>
          <p:cNvSpPr txBox="1"/>
          <p:nvPr/>
        </p:nvSpPr>
        <p:spPr>
          <a:xfrm>
            <a:off x="1463040" y="371246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Procedure</a:t>
            </a:r>
            <a:endParaRPr lang="en-US" sz="1800" dirty="0"/>
          </a:p>
        </p:txBody>
      </p:sp>
      <p:sp>
        <p:nvSpPr>
          <p:cNvPr id="22" name="Feature text Procedure"/>
          <p:cNvSpPr txBox="1"/>
          <p:nvPr/>
        </p:nvSpPr>
        <p:spPr>
          <a:xfrm>
            <a:off x="3383280" y="3712464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sp_apply_leave rejects overlapping requests and requests that exceed the semester leave balance.</a:t>
            </a:r>
            <a:endParaRPr lang="en-US" sz="1500" dirty="0"/>
          </a:p>
        </p:txBody>
      </p:sp>
      <p:sp>
        <p:nvSpPr>
          <p:cNvPr id="23" name="Feature row Triggers"/>
          <p:cNvSpPr/>
          <p:nvPr/>
        </p:nvSpPr>
        <p:spPr>
          <a:xfrm>
            <a:off x="548640" y="4462272"/>
            <a:ext cx="11109960" cy="676656"/>
          </a:xfrm>
          <a:prstGeom prst="roundRect">
            <a:avLst>
              <a:gd name="adj" fmla="val 1351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4" name="Icon circle FaBolt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 FaBolt" descr="Bo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686300"/>
            <a:ext cx="228600" cy="228600"/>
          </a:xfrm>
          <a:prstGeom prst="rect">
            <a:avLst/>
          </a:prstGeom>
        </p:spPr>
      </p:pic>
      <p:sp>
        <p:nvSpPr>
          <p:cNvPr id="26" name="Feature name Triggers"/>
          <p:cNvSpPr txBox="1"/>
          <p:nvPr/>
        </p:nvSpPr>
        <p:spPr>
          <a:xfrm>
            <a:off x="1463040" y="446227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Triggers</a:t>
            </a:r>
            <a:endParaRPr lang="en-US" sz="1800" dirty="0"/>
          </a:p>
        </p:txBody>
      </p:sp>
      <p:sp>
        <p:nvSpPr>
          <p:cNvPr id="27" name="Feature text Triggers"/>
          <p:cNvSpPr txBox="1"/>
          <p:nvPr/>
        </p:nvSpPr>
        <p:spPr>
          <a:xfrm>
            <a:off x="3383280" y="446227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trg_approval_before_insert enforces the Mentor → HOD order. trg_approval_after_insert updates the request status and attendance.</a:t>
            </a:r>
            <a:endParaRPr lang="en-US" sz="1500" dirty="0"/>
          </a:p>
        </p:txBody>
      </p:sp>
      <p:sp>
        <p:nvSpPr>
          <p:cNvPr id="28" name="Feature row Queries"/>
          <p:cNvSpPr/>
          <p:nvPr/>
        </p:nvSpPr>
        <p:spPr>
          <a:xfrm>
            <a:off x="548640" y="5212080"/>
            <a:ext cx="11109960" cy="676656"/>
          </a:xfrm>
          <a:prstGeom prst="roundRect">
            <a:avLst>
              <a:gd name="adj" fmla="val 1351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9" name="Icon circle FaSearch"/>
          <p:cNvSpPr/>
          <p:nvPr/>
        </p:nvSpPr>
        <p:spPr>
          <a:xfrm>
            <a:off x="777240" y="5321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 FaSearch" descr="Search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436108"/>
            <a:ext cx="228600" cy="228600"/>
          </a:xfrm>
          <a:prstGeom prst="rect">
            <a:avLst/>
          </a:prstGeom>
        </p:spPr>
      </p:pic>
      <p:sp>
        <p:nvSpPr>
          <p:cNvPr id="31" name="Feature name Queries"/>
          <p:cNvSpPr txBox="1"/>
          <p:nvPr/>
        </p:nvSpPr>
        <p:spPr>
          <a:xfrm>
            <a:off x="1463040" y="521208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Queries</a:t>
            </a:r>
            <a:endParaRPr lang="en-US" sz="1800" dirty="0"/>
          </a:p>
        </p:txBody>
      </p:sp>
      <p:sp>
        <p:nvSpPr>
          <p:cNvPr id="32" name="Feature text Queries"/>
          <p:cNvSpPr txBox="1"/>
          <p:nvPr/>
        </p:nvSpPr>
        <p:spPr>
          <a:xfrm>
            <a:off x="3383280" y="5212080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Nine report queries (Q1–Q9) cover shortage lists, approval trails, leave usage, and pending requests per mentor.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Live demo: database and queries</a:t>
            </a:r>
            <a:endParaRPr lang="en-US" sz="3600" dirty="0"/>
          </a:p>
        </p:txBody>
      </p:sp>
      <p:sp>
        <p:nvSpPr>
          <p:cNvPr id="3" name="Demo step 1"/>
          <p:cNvSpPr/>
          <p:nvPr/>
        </p:nvSpPr>
        <p:spPr>
          <a:xfrm>
            <a:off x="548640" y="1463040"/>
            <a:ext cx="676656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Demo number 1"/>
          <p:cNvSpPr txBox="1"/>
          <p:nvPr/>
        </p:nvSpPr>
        <p:spPr>
          <a:xfrm>
            <a:off x="822960" y="17190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Demo heading 1"/>
          <p:cNvSpPr txBox="1"/>
          <p:nvPr/>
        </p:nvSpPr>
        <p:spPr>
          <a:xfrm>
            <a:off x="1600200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Create</a:t>
            </a:r>
            <a:endParaRPr lang="en-US" sz="2000" dirty="0"/>
          </a:p>
        </p:txBody>
      </p:sp>
      <p:sp>
        <p:nvSpPr>
          <p:cNvPr id="6" name="Demo text 1"/>
          <p:cNvSpPr txBox="1"/>
          <p:nvPr/>
        </p:nvSpPr>
        <p:spPr>
          <a:xfrm>
            <a:off x="1600200" y="1965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Create the database and tables with primary keys, foreign keys, and constraints.</a:t>
            </a:r>
            <a:endParaRPr lang="en-US" sz="1500" dirty="0"/>
          </a:p>
        </p:txBody>
      </p:sp>
      <p:sp>
        <p:nvSpPr>
          <p:cNvPr id="7" name="Demo step 2"/>
          <p:cNvSpPr/>
          <p:nvPr/>
        </p:nvSpPr>
        <p:spPr>
          <a:xfrm>
            <a:off x="548640" y="2651760"/>
            <a:ext cx="676656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" name="Demo number 2"/>
          <p:cNvSpPr txBox="1"/>
          <p:nvPr/>
        </p:nvSpPr>
        <p:spPr>
          <a:xfrm>
            <a:off x="822960" y="29077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Demo heading 2"/>
          <p:cNvSpPr txBox="1"/>
          <p:nvPr/>
        </p:nvSpPr>
        <p:spPr>
          <a:xfrm>
            <a:off x="1600200" y="2761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Insert</a:t>
            </a:r>
            <a:endParaRPr lang="en-US" sz="2000" dirty="0"/>
          </a:p>
        </p:txBody>
      </p:sp>
      <p:sp>
        <p:nvSpPr>
          <p:cNvPr id="10" name="Demo text 2"/>
          <p:cNvSpPr txBox="1"/>
          <p:nvPr/>
        </p:nvSpPr>
        <p:spPr>
          <a:xfrm>
            <a:off x="1600200" y="3154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Insert sample data: at least 5 records per table.</a:t>
            </a:r>
            <a:endParaRPr lang="en-US" sz="1500" dirty="0"/>
          </a:p>
        </p:txBody>
      </p:sp>
      <p:sp>
        <p:nvSpPr>
          <p:cNvPr id="11" name="Demo step 3"/>
          <p:cNvSpPr/>
          <p:nvPr/>
        </p:nvSpPr>
        <p:spPr>
          <a:xfrm>
            <a:off x="548640" y="3840480"/>
            <a:ext cx="676656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2" name="Demo number 3"/>
          <p:cNvSpPr txBox="1"/>
          <p:nvPr/>
        </p:nvSpPr>
        <p:spPr>
          <a:xfrm>
            <a:off x="822960" y="4096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Demo heading 3"/>
          <p:cNvSpPr txBox="1"/>
          <p:nvPr/>
        </p:nvSpPr>
        <p:spPr>
          <a:xfrm>
            <a:off x="1600200" y="3950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Query</a:t>
            </a:r>
            <a:endParaRPr lang="en-US" sz="2000" dirty="0"/>
          </a:p>
        </p:txBody>
      </p:sp>
      <p:sp>
        <p:nvSpPr>
          <p:cNvPr id="14" name="Demo text 3"/>
          <p:cNvSpPr txBox="1"/>
          <p:nvPr/>
        </p:nvSpPr>
        <p:spPr>
          <a:xfrm>
            <a:off x="160020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 SELECT statements with joins and aggregate functions.</a:t>
            </a:r>
            <a:endParaRPr lang="en-US" sz="1500" dirty="0"/>
          </a:p>
        </p:txBody>
      </p:sp>
      <p:sp>
        <p:nvSpPr>
          <p:cNvPr id="15" name="Demo step 4"/>
          <p:cNvSpPr/>
          <p:nvPr/>
        </p:nvSpPr>
        <p:spPr>
          <a:xfrm>
            <a:off x="548640" y="5029200"/>
            <a:ext cx="676656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6" name="Demo number 4"/>
          <p:cNvSpPr txBox="1"/>
          <p:nvPr/>
        </p:nvSpPr>
        <p:spPr>
          <a:xfrm>
            <a:off x="822960" y="52852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Demo heading 4"/>
          <p:cNvSpPr txBox="1"/>
          <p:nvPr/>
        </p:nvSpPr>
        <p:spPr>
          <a:xfrm>
            <a:off x="1600200" y="5138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Trigger</a:t>
            </a:r>
            <a:endParaRPr lang="en-US" sz="2000" dirty="0"/>
          </a:p>
        </p:txBody>
      </p:sp>
      <p:sp>
        <p:nvSpPr>
          <p:cNvPr id="18" name="Demo text 4"/>
          <p:cNvSpPr txBox="1"/>
          <p:nvPr/>
        </p:nvSpPr>
        <p:spPr>
          <a:xfrm>
            <a:off x="1600200" y="5532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Record an HOD approval and show the absences change to On Leave.</a:t>
            </a:r>
            <a:endParaRPr lang="en-US" sz="1500" dirty="0"/>
          </a:p>
        </p:txBody>
      </p:sp>
      <p:sp>
        <p:nvSpPr>
          <p:cNvPr id="19" name="Slot card"/>
          <p:cNvSpPr/>
          <p:nvPr/>
        </p:nvSpPr>
        <p:spPr>
          <a:xfrm>
            <a:off x="7680960" y="1463040"/>
            <a:ext cx="3977640" cy="461772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/>
        </p:spPr>
      </p:sp>
      <p:sp>
        <p:nvSpPr>
          <p:cNvPr id="20" name="Slot number"/>
          <p:cNvSpPr txBox="1"/>
          <p:nvPr/>
        </p:nvSpPr>
        <p:spPr>
          <a:xfrm>
            <a:off x="8001000" y="17830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9600" dirty="0"/>
          </a:p>
        </p:txBody>
      </p:sp>
      <p:sp>
        <p:nvSpPr>
          <p:cNvPr id="21" name="Slot caption"/>
          <p:cNvSpPr txBox="1"/>
          <p:nvPr/>
        </p:nvSpPr>
        <p:spPr>
          <a:xfrm>
            <a:off x="8001000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minutes per project, with setup and demo included</a:t>
            </a:r>
            <a:endParaRPr lang="en-US" sz="1800" dirty="0"/>
          </a:p>
        </p:txBody>
      </p:sp>
      <p:sp>
        <p:nvSpPr>
          <p:cNvPr id="22" name="Slot reminder"/>
          <p:cNvSpPr txBox="1"/>
          <p:nvPr/>
        </p:nvSpPr>
        <p:spPr>
          <a:xfrm>
            <a:off x="8001000" y="429768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Keep the database and the UI running before your slot.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Expected results with the sample data</a:t>
            </a:r>
            <a:endParaRPr lang="en-US" sz="3600" dirty="0"/>
          </a:p>
        </p:txBody>
      </p:sp>
      <p:sp>
        <p:nvSpPr>
          <p:cNvPr id="3" name="Formula card"/>
          <p:cNvSpPr/>
          <p:nvPr/>
        </p:nvSpPr>
        <p:spPr>
          <a:xfrm>
            <a:off x="548640" y="1463040"/>
            <a:ext cx="594360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4" name="Formula label"/>
          <p:cNvSpPr txBox="1"/>
          <p:nvPr/>
        </p:nvSpPr>
        <p:spPr>
          <a:xfrm>
            <a:off x="86868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ATTENDANCE FORMULA</a:t>
            </a:r>
            <a:endParaRPr lang="en-US" sz="1200" dirty="0"/>
          </a:p>
        </p:txBody>
      </p:sp>
      <p:sp>
        <p:nvSpPr>
          <p:cNvPr id="5" name="Formula"/>
          <p:cNvSpPr txBox="1"/>
          <p:nvPr/>
        </p:nvSpPr>
        <p:spPr>
          <a:xfrm>
            <a:off x="868680" y="21031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Attendance % = (Present + Late) / (Total sessions − On Leave sessions) × 100</a:t>
            </a:r>
            <a:endParaRPr lang="en-US" sz="2100" dirty="0"/>
          </a:p>
        </p:txBody>
      </p:sp>
      <p:sp>
        <p:nvSpPr>
          <p:cNvPr id="6" name="Icon circle FaUserCheck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FaUserCheck" descr="User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94760"/>
            <a:ext cx="274320" cy="274320"/>
          </a:xfrm>
          <a:prstGeom prst="rect">
            <a:avLst/>
          </a:prstGeom>
        </p:spPr>
      </p:pic>
      <p:sp>
        <p:nvSpPr>
          <p:cNvPr id="8" name="Outcome 1"/>
          <p:cNvSpPr txBox="1"/>
          <p:nvPr/>
        </p:nvSpPr>
        <p:spPr>
          <a:xfrm>
            <a:off x="1325880" y="356616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Rahul's two absences on 15 and 16 Sep change to On Leave after HOD approval, so his DBMS attendance goes from 50% to 100%.</a:t>
            </a:r>
            <a:endParaRPr lang="en-US" sz="1500" dirty="0"/>
          </a:p>
        </p:txBody>
      </p:sp>
      <p:sp>
        <p:nvSpPr>
          <p:cNvPr id="9" name="Icon circle FaTimesCircle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 FaTimesCircle" descr="Times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54880"/>
            <a:ext cx="274320" cy="274320"/>
          </a:xfrm>
          <a:prstGeom prst="rect">
            <a:avLst/>
          </a:prstGeom>
        </p:spPr>
      </p:pic>
      <p:sp>
        <p:nvSpPr>
          <p:cNvPr id="11" name="Outcome 2"/>
          <p:cNvSpPr txBox="1"/>
          <p:nvPr/>
        </p:nvSpPr>
        <p:spPr>
          <a:xfrm>
            <a:off x="1325880" y="45262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Sneha's leave is rejected by the mentor and stays closed.</a:t>
            </a:r>
            <a:endParaRPr lang="en-US" sz="1500" dirty="0"/>
          </a:p>
        </p:txBody>
      </p:sp>
      <p:sp>
        <p:nvSpPr>
          <p:cNvPr id="12" name="Icon circle FaExclamationTriangle"/>
          <p:cNvSpPr/>
          <p:nvPr/>
        </p:nvSpPr>
        <p:spPr>
          <a:xfrm>
            <a:off x="548640" y="54864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FaExclamationTriangle" descr="ExclamationTriang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23560"/>
            <a:ext cx="274320" cy="274320"/>
          </a:xfrm>
          <a:prstGeom prst="rect">
            <a:avLst/>
          </a:prstGeom>
        </p:spPr>
      </p:pic>
      <p:sp>
        <p:nvSpPr>
          <p:cNvPr id="14" name="Outcome 3"/>
          <p:cNvSpPr txBox="1"/>
          <p:nvPr/>
        </p:nvSpPr>
        <p:spPr>
          <a:xfrm>
            <a:off x="1325880" y="539496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Q2 lists the students below 75%.</a:t>
            </a:r>
            <a:endParaRPr lang="en-US" sz="1500" dirty="0"/>
          </a:p>
        </p:txBody>
      </p:sp>
      <p:sp>
        <p:nvSpPr>
          <p:cNvPr id="15" name="Chart card"/>
          <p:cNvSpPr/>
          <p:nvPr/>
        </p:nvSpPr>
        <p:spPr>
          <a:xfrm>
            <a:off x="6812280" y="1463040"/>
            <a:ext cx="4846320" cy="4617720"/>
          </a:xfrm>
          <a:prstGeom prst="roundRect">
            <a:avLst>
              <a:gd name="adj" fmla="val 2376"/>
            </a:avLst>
          </a:prstGeom>
          <a:solidFill>
            <a:schemeClr val="accent1">
              <a:alpha val="8000"/>
            </a:schemeClr>
          </a:solidFill>
          <a:ln/>
        </p:spPr>
      </p:sp>
      <p:graphicFrame>
        <p:nvGraphicFramePr>
          <p:cNvPr id="16" name="Chart 0" descr=""/>
          <p:cNvGraphicFramePr/>
          <p:nvPr/>
        </p:nvGraphicFramePr>
        <p:xfrm>
          <a:off x="6949440" y="1600200"/>
          <a:ext cx="45720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User interface demo</a:t>
            </a:r>
            <a:endParaRPr lang="en-US" sz="3600" dirty="0"/>
          </a:p>
        </p:txBody>
      </p:sp>
      <p:sp>
        <p:nvSpPr>
          <p:cNvPr id="3" name="UI box"/>
          <p:cNvSpPr/>
          <p:nvPr/>
        </p:nvSpPr>
        <p:spPr>
          <a:xfrm>
            <a:off x="2011680" y="1508760"/>
            <a:ext cx="3108960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Icon circle FaDesktop"/>
          <p:cNvSpPr/>
          <p:nvPr/>
        </p:nvSpPr>
        <p:spPr>
          <a:xfrm>
            <a:off x="228600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FaDesktop" descr="Desk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4590" y="1931670"/>
            <a:ext cx="297180" cy="297180"/>
          </a:xfrm>
          <a:prstGeom prst="rect">
            <a:avLst/>
          </a:prstGeom>
        </p:spPr>
      </p:pic>
      <p:sp>
        <p:nvSpPr>
          <p:cNvPr id="6" name="UI title"/>
          <p:cNvSpPr txBox="1"/>
          <p:nvPr/>
        </p:nvSpPr>
        <p:spPr>
          <a:xfrm>
            <a:off x="3063240" y="1783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User interface</a:t>
            </a:r>
            <a:endParaRPr lang="en-US" sz="2000" dirty="0"/>
          </a:p>
        </p:txBody>
      </p:sp>
      <p:sp>
        <p:nvSpPr>
          <p:cNvPr id="7" name="UI caption"/>
          <p:cNvSpPr txBox="1"/>
          <p:nvPr/>
        </p:nvSpPr>
        <p:spPr>
          <a:xfrm>
            <a:off x="22860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Forms and tables for the user</a:t>
            </a:r>
            <a:endParaRPr lang="en-US" sz="1400" dirty="0"/>
          </a:p>
        </p:txBody>
      </p:sp>
      <p:sp>
        <p:nvSpPr>
          <p:cNvPr id="8" name="MySQL box"/>
          <p:cNvSpPr/>
          <p:nvPr/>
        </p:nvSpPr>
        <p:spPr>
          <a:xfrm>
            <a:off x="7068312" y="1508760"/>
            <a:ext cx="3108960" cy="1554480"/>
          </a:xfrm>
          <a:prstGeom prst="roundRect">
            <a:avLst>
              <a:gd name="adj" fmla="val 705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9" name="Icon circle FaDatabase"/>
          <p:cNvSpPr/>
          <p:nvPr/>
        </p:nvSpPr>
        <p:spPr>
          <a:xfrm>
            <a:off x="7342632" y="17830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FaDatabase" descr="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222" y="1931670"/>
            <a:ext cx="297180" cy="297180"/>
          </a:xfrm>
          <a:prstGeom prst="rect">
            <a:avLst/>
          </a:prstGeom>
        </p:spPr>
      </p:pic>
      <p:sp>
        <p:nvSpPr>
          <p:cNvPr id="11" name="MySQL title"/>
          <p:cNvSpPr txBox="1"/>
          <p:nvPr/>
        </p:nvSpPr>
        <p:spPr>
          <a:xfrm>
            <a:off x="8119872" y="1783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MySQL database</a:t>
            </a:r>
            <a:endParaRPr lang="en-US" sz="2000" dirty="0"/>
          </a:p>
        </p:txBody>
      </p:sp>
      <p:sp>
        <p:nvSpPr>
          <p:cNvPr id="12" name="MySQL caption"/>
          <p:cNvSpPr txBox="1"/>
          <p:nvPr/>
        </p:nvSpPr>
        <p:spPr>
          <a:xfrm>
            <a:off x="7342632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Records stored and returned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212080" y="1965960"/>
            <a:ext cx="1764792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Arrow label right"/>
          <p:cNvSpPr txBox="1"/>
          <p:nvPr/>
        </p:nvSpPr>
        <p:spPr>
          <a:xfrm>
            <a:off x="5212080" y="16459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insert, delete, view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flipH="1">
            <a:off x="5212080" y="2606040"/>
            <a:ext cx="1764792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Arrow label left"/>
          <p:cNvSpPr txBox="1"/>
          <p:nvPr/>
        </p:nvSpPr>
        <p:spPr>
          <a:xfrm>
            <a:off x="5212080" y="2651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changes reflected</a:t>
            </a:r>
            <a:endParaRPr lang="en-US" sz="1200" dirty="0"/>
          </a:p>
        </p:txBody>
      </p:sp>
      <p:sp>
        <p:nvSpPr>
          <p:cNvPr id="17" name="UI action card Insert"/>
          <p:cNvSpPr/>
          <p:nvPr/>
        </p:nvSpPr>
        <p:spPr>
          <a:xfrm>
            <a:off x="548640" y="352044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8" name="Icon circle FaPlus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FaPlus" descr="Plu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954780"/>
            <a:ext cx="320040" cy="320040"/>
          </a:xfrm>
          <a:prstGeom prst="rect">
            <a:avLst/>
          </a:prstGeom>
        </p:spPr>
      </p:pic>
      <p:sp>
        <p:nvSpPr>
          <p:cNvPr id="20" name="UI action heading Insert"/>
          <p:cNvSpPr txBox="1"/>
          <p:nvPr/>
        </p:nvSpPr>
        <p:spPr>
          <a:xfrm>
            <a:off x="822960" y="4572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Insert</a:t>
            </a:r>
            <a:endParaRPr lang="en-US" sz="2200" dirty="0"/>
          </a:p>
        </p:txBody>
      </p:sp>
      <p:sp>
        <p:nvSpPr>
          <p:cNvPr id="21" name="UI action text Insert"/>
          <p:cNvSpPr txBox="1"/>
          <p:nvPr/>
        </p:nvSpPr>
        <p:spPr>
          <a:xfrm>
            <a:off x="82296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a new record through the UI, then show the new row in MySQL.</a:t>
            </a:r>
            <a:endParaRPr lang="en-US" sz="1500" dirty="0"/>
          </a:p>
        </p:txBody>
      </p:sp>
      <p:sp>
        <p:nvSpPr>
          <p:cNvPr id="22" name="UI action card Delete"/>
          <p:cNvSpPr/>
          <p:nvPr/>
        </p:nvSpPr>
        <p:spPr>
          <a:xfrm>
            <a:off x="4343400" y="352044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3" name="Icon circle FaTrash"/>
          <p:cNvSpPr/>
          <p:nvPr/>
        </p:nvSpPr>
        <p:spPr>
          <a:xfrm>
            <a:off x="4617720" y="37947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 FaTrash" descr="Tras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3954780"/>
            <a:ext cx="320040" cy="320040"/>
          </a:xfrm>
          <a:prstGeom prst="rect">
            <a:avLst/>
          </a:prstGeom>
        </p:spPr>
      </p:pic>
      <p:sp>
        <p:nvSpPr>
          <p:cNvPr id="25" name="UI action heading Delete"/>
          <p:cNvSpPr txBox="1"/>
          <p:nvPr/>
        </p:nvSpPr>
        <p:spPr>
          <a:xfrm>
            <a:off x="4617720" y="4572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Delete</a:t>
            </a:r>
            <a:endParaRPr lang="en-US" sz="2200" dirty="0"/>
          </a:p>
        </p:txBody>
      </p:sp>
      <p:sp>
        <p:nvSpPr>
          <p:cNvPr id="26" name="UI action text Delete"/>
          <p:cNvSpPr txBox="1"/>
          <p:nvPr/>
        </p:nvSpPr>
        <p:spPr>
          <a:xfrm>
            <a:off x="461772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Remove a record through the UI, then show it gone from MySQL.</a:t>
            </a:r>
            <a:endParaRPr lang="en-US" sz="1500" dirty="0"/>
          </a:p>
        </p:txBody>
      </p:sp>
      <p:sp>
        <p:nvSpPr>
          <p:cNvPr id="27" name="UI action card View"/>
          <p:cNvSpPr/>
          <p:nvPr/>
        </p:nvSpPr>
        <p:spPr>
          <a:xfrm>
            <a:off x="8138160" y="352044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8" name="Icon circle FaTable"/>
          <p:cNvSpPr/>
          <p:nvPr/>
        </p:nvSpPr>
        <p:spPr>
          <a:xfrm>
            <a:off x="8412480" y="37947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Icon FaTable" descr="Tab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954780"/>
            <a:ext cx="320040" cy="320040"/>
          </a:xfrm>
          <a:prstGeom prst="rect">
            <a:avLst/>
          </a:prstGeom>
        </p:spPr>
      </p:pic>
      <p:sp>
        <p:nvSpPr>
          <p:cNvPr id="30" name="UI action heading View"/>
          <p:cNvSpPr txBox="1"/>
          <p:nvPr/>
        </p:nvSpPr>
        <p:spPr>
          <a:xfrm>
            <a:off x="8412480" y="4572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View</a:t>
            </a:r>
            <a:endParaRPr lang="en-US" sz="2200" dirty="0"/>
          </a:p>
        </p:txBody>
      </p:sp>
      <p:sp>
        <p:nvSpPr>
          <p:cNvPr id="31" name="UI action text View"/>
          <p:cNvSpPr txBox="1"/>
          <p:nvPr/>
        </p:nvSpPr>
        <p:spPr>
          <a:xfrm>
            <a:off x="841248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List the records in the UI and match them with a SELECT in MySQL.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and future scope</a:t>
            </a:r>
            <a:endParaRPr lang="en-US" sz="3600" dirty="0"/>
          </a:p>
        </p:txBody>
      </p:sp>
      <p:sp>
        <p:nvSpPr>
          <p:cNvPr id="3" name="Conclusion label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" name="Conclusion text"/>
          <p:cNvSpPr txBox="1"/>
          <p:nvPr/>
        </p:nvSpPr>
        <p:spPr>
          <a:xfrm>
            <a:off x="548640" y="196596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system replaces manual registers with an auditable, rule-enforced workflow.</a:t>
            </a:r>
            <a:endParaRPr lang="en-US" sz="28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4206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6" name="Thank you"/>
          <p:cNvSpPr txBox="1"/>
          <p:nvPr/>
        </p:nvSpPr>
        <p:spPr>
          <a:xfrm>
            <a:off x="548640" y="53492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Thank you</a:t>
            </a:r>
            <a:endParaRPr lang="en-US" sz="2000" dirty="0"/>
          </a:p>
        </p:txBody>
      </p:sp>
      <p:sp>
        <p:nvSpPr>
          <p:cNvPr id="7" name="Extensions label"/>
          <p:cNvSpPr txBox="1"/>
          <p:nvPr/>
        </p:nvSpPr>
        <p:spPr>
          <a:xfrm>
            <a:off x="6949440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POSSIBLE EXTENSIONS</a:t>
            </a:r>
            <a:endParaRPr lang="en-US" sz="1200" dirty="0"/>
          </a:p>
        </p:txBody>
      </p:sp>
      <p:sp>
        <p:nvSpPr>
          <p:cNvPr id="8" name="Icon circle FaLaptopCode"/>
          <p:cNvSpPr/>
          <p:nvPr/>
        </p:nvSpPr>
        <p:spPr>
          <a:xfrm>
            <a:off x="6949440" y="21031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9" name="Icon FaLaptopCode" descr="Laptop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2263140"/>
            <a:ext cx="320040" cy="320040"/>
          </a:xfrm>
          <a:prstGeom prst="rect">
            <a:avLst/>
          </a:prstGeom>
        </p:spPr>
      </p:pic>
      <p:sp>
        <p:nvSpPr>
          <p:cNvPr id="10" name="Extension 1"/>
          <p:cNvSpPr txBox="1"/>
          <p:nvPr/>
        </p:nvSpPr>
        <p:spPr>
          <a:xfrm>
            <a:off x="7818120" y="2057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Web front end (JSP/Servlets or Flask)</a:t>
            </a:r>
            <a:endParaRPr lang="en-US" sz="1800" dirty="0"/>
          </a:p>
        </p:txBody>
      </p:sp>
      <p:sp>
        <p:nvSpPr>
          <p:cNvPr id="11" name="Icon circle FaEnvelope"/>
          <p:cNvSpPr/>
          <p:nvPr/>
        </p:nvSpPr>
        <p:spPr>
          <a:xfrm>
            <a:off x="6949440" y="310896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con FaEnvelope" descr="Envelop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3268980"/>
            <a:ext cx="320040" cy="320040"/>
          </a:xfrm>
          <a:prstGeom prst="rect">
            <a:avLst/>
          </a:prstGeom>
        </p:spPr>
      </p:pic>
      <p:sp>
        <p:nvSpPr>
          <p:cNvPr id="13" name="Extension 2"/>
          <p:cNvSpPr txBox="1"/>
          <p:nvPr/>
        </p:nvSpPr>
        <p:spPr>
          <a:xfrm>
            <a:off x="781812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Email notifications</a:t>
            </a:r>
            <a:endParaRPr lang="en-US" sz="1800" dirty="0"/>
          </a:p>
        </p:txBody>
      </p:sp>
      <p:sp>
        <p:nvSpPr>
          <p:cNvPr id="14" name="Icon circle FaUserLock"/>
          <p:cNvSpPr/>
          <p:nvPr/>
        </p:nvSpPr>
        <p:spPr>
          <a:xfrm>
            <a:off x="6949440" y="411480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con FaUserLock" descr="UserL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4274820"/>
            <a:ext cx="320040" cy="320040"/>
          </a:xfrm>
          <a:prstGeom prst="rect">
            <a:avLst/>
          </a:prstGeom>
        </p:spPr>
      </p:pic>
      <p:sp>
        <p:nvSpPr>
          <p:cNvPr id="16" name="Extension 3"/>
          <p:cNvSpPr txBox="1"/>
          <p:nvPr/>
        </p:nvSpPr>
        <p:spPr>
          <a:xfrm>
            <a:off x="781812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Role-based login</a:t>
            </a:r>
            <a:endParaRPr lang="en-US" sz="1800" dirty="0"/>
          </a:p>
        </p:txBody>
      </p:sp>
      <p:sp>
        <p:nvSpPr>
          <p:cNvPr id="17" name="Icon circle FaQrcode"/>
          <p:cNvSpPr/>
          <p:nvPr/>
        </p:nvSpPr>
        <p:spPr>
          <a:xfrm>
            <a:off x="6949440" y="51206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8" name="Icon FaQrcode" descr="Qrcod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5280660"/>
            <a:ext cx="320040" cy="320040"/>
          </a:xfrm>
          <a:prstGeom prst="rect">
            <a:avLst/>
          </a:prstGeom>
        </p:spPr>
      </p:pic>
      <p:sp>
        <p:nvSpPr>
          <p:cNvPr id="19" name="Extension 4"/>
          <p:cNvSpPr txBox="1"/>
          <p:nvPr/>
        </p:nvSpPr>
        <p:spPr>
          <a:xfrm>
            <a:off x="7818120" y="5074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Biometric or QR attendance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tendance">
  <a:themeElements>
    <a:clrScheme name="Attendance">
      <a:dk1>
        <a:srgbClr val="14232B"/>
      </a:dk1>
      <a:lt1>
        <a:srgbClr val="FFFFFF"/>
      </a:lt1>
      <a:dk2>
        <a:srgbClr val="0B4F50"/>
      </a:dk2>
      <a:lt2>
        <a:srgbClr val="EAF2F1"/>
      </a:lt2>
      <a:accent1>
        <a:srgbClr val="13787A"/>
      </a:accent1>
      <a:accent2>
        <a:srgbClr val="E8A33D"/>
      </a:accent2>
      <a:accent3>
        <a:srgbClr val="2F9E6E"/>
      </a:accent3>
      <a:accent4>
        <a:srgbClr val="C8553D"/>
      </a:accent4>
      <a:accent5>
        <a:srgbClr val="5B7C99"/>
      </a:accent5>
      <a:accent6>
        <a:srgbClr val="8A6FB0"/>
      </a:accent6>
      <a:hlink>
        <a:srgbClr val="13787A"/>
      </a:hlink>
      <a:folHlink>
        <a:srgbClr val="5B7C99"/>
      </a:folHlink>
    </a:clrScheme>
    <a:fontScheme name="Attenda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and Leave Approval System</dc:title>
  <dc:subject>DBMS Course Project - Final Presentation</dc:subject>
  <dc:creator/>
  <cp:lastModifiedBy/>
  <cp:revision>1</cp:revision>
  <dcterms:created xsi:type="dcterms:W3CDTF">2026-10-05T17:21:04Z</dcterms:created>
  <dcterms:modified xsi:type="dcterms:W3CDTF">2026-10-05T17:21:04Z</dcterms:modified>
</cp:coreProperties>
</file>